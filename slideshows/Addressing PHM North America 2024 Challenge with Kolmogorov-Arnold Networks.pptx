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sldIdLst>
    <p:sldId id="601" r:id="rId5"/>
    <p:sldId id="607" r:id="rId6"/>
    <p:sldId id="615" r:id="rId7"/>
    <p:sldId id="614" r:id="rId8"/>
    <p:sldId id="616" r:id="rId9"/>
    <p:sldId id="602" r:id="rId10"/>
    <p:sldId id="606" r:id="rId11"/>
    <p:sldId id="609" r:id="rId12"/>
    <p:sldId id="610" r:id="rId13"/>
    <p:sldId id="611" r:id="rId14"/>
    <p:sldId id="465" r:id="rId15"/>
    <p:sldId id="467" r:id="rId16"/>
    <p:sldId id="470" r:id="rId17"/>
    <p:sldId id="487" r:id="rId18"/>
    <p:sldId id="612" r:id="rId19"/>
    <p:sldId id="617" r:id="rId20"/>
    <p:sldId id="618" r:id="rId21"/>
    <p:sldId id="619" r:id="rId22"/>
    <p:sldId id="621" r:id="rId23"/>
    <p:sldId id="620" r:id="rId24"/>
    <p:sldId id="622" r:id="rId25"/>
    <p:sldId id="623" r:id="rId26"/>
    <p:sldId id="624" r:id="rId27"/>
    <p:sldId id="626" r:id="rId28"/>
    <p:sldId id="625" r:id="rId29"/>
    <p:sldId id="627" r:id="rId30"/>
    <p:sldId id="628" r:id="rId31"/>
    <p:sldId id="629" r:id="rId32"/>
    <p:sldId id="630" r:id="rId33"/>
    <p:sldId id="632" r:id="rId34"/>
    <p:sldId id="631" r:id="rId35"/>
    <p:sldId id="633" r:id="rId3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6BFD53-8CE8-9259-1944-2F65BC69471C}" name="MORELLI VALERIO" initials="MV" userId="S::S1118781@studenti.univpm.it::a2f2b3b2-1a76-4cc9-9fde-c639f9d2ad7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394"/>
    <a:srgbClr val="2F5597"/>
    <a:srgbClr val="FFC000"/>
    <a:srgbClr val="AF282E"/>
    <a:srgbClr val="0E1A25"/>
    <a:srgbClr val="1F4E79"/>
    <a:srgbClr val="001E2B"/>
    <a:srgbClr val="429896"/>
    <a:srgbClr val="295F5E"/>
    <a:srgbClr val="83DF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Stile medio 1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Stile medio 1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25E5076-3810-47DD-B79F-674D7AD40C01}" styleName="Stile scuro 1 - Color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409" autoAdjust="0"/>
  </p:normalViewPr>
  <p:slideViewPr>
    <p:cSldViewPr snapToGrid="0">
      <p:cViewPr varScale="1">
        <p:scale>
          <a:sx n="97" d="100"/>
          <a:sy n="97" d="100"/>
        </p:scale>
        <p:origin x="1074" y="7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0AB5D-8937-4A99-ADD1-7B5E8789B718}" type="datetimeFigureOut">
              <a:rPr lang="it-IT" smtClean="0"/>
              <a:t>16/09/2025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9A81D-BA6A-4222-B9A5-A0E7ADCB5B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454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9A81D-BA6A-4222-B9A5-A0E7ADCB5B98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1361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AC27-B98C-8993-36BB-EAB20540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552308-0D52-A6CE-8144-C7E2385467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E8F35A-A5F8-4726-861F-A33D4336A379}" type="slidenum">
              <a:t>2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F85E21-7F5F-B0A8-CE86-94BEC436D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E25228-D6DD-5AAC-63AE-FE7332D961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960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AC27-B98C-8993-36BB-EAB20540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552308-0D52-A6CE-8144-C7E2385467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E8F35A-A5F8-4726-861F-A33D4336A379}" type="slidenum">
              <a:t>3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F85E21-7F5F-B0A8-CE86-94BEC436D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E25228-D6DD-5AAC-63AE-FE7332D961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r>
              <a:rPr lang="en-US" dirty="0"/>
              <a:t>Wild- </a:t>
            </a:r>
            <a:r>
              <a:rPr lang="en-US" dirty="0" err="1"/>
              <a:t>behaviour</a:t>
            </a:r>
            <a:r>
              <a:rPr lang="en-US" dirty="0"/>
              <a:t> has limited its usage till now</a:t>
            </a:r>
          </a:p>
        </p:txBody>
      </p:sp>
    </p:spTree>
    <p:extLst>
      <p:ext uri="{BB962C8B-B14F-4D97-AF65-F5344CB8AC3E}">
        <p14:creationId xmlns:p14="http://schemas.microsoft.com/office/powerpoint/2010/main" val="419933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AC27-B98C-8993-36BB-EAB20540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552308-0D52-A6CE-8144-C7E2385467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E8F35A-A5F8-4726-861F-A33D4336A379}" type="slidenum">
              <a:t>4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F85E21-7F5F-B0A8-CE86-94BEC436D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E25228-D6DD-5AAC-63AE-FE7332D961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r>
              <a:rPr lang="en-US" dirty="0"/>
              <a:t>highly confident false negatives are strongly penalized.</a:t>
            </a:r>
          </a:p>
        </p:txBody>
      </p:sp>
    </p:spTree>
    <p:extLst>
      <p:ext uri="{BB962C8B-B14F-4D97-AF65-F5344CB8AC3E}">
        <p14:creationId xmlns:p14="http://schemas.microsoft.com/office/powerpoint/2010/main" val="3870388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AC27-B98C-8993-36BB-EAB20540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552308-0D52-A6CE-8144-C7E2385467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E8F35A-A5F8-4726-861F-A33D4336A379}" type="slidenum">
              <a:t>5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F85E21-7F5F-B0A8-CE86-94BEC436D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E25228-D6DD-5AAC-63AE-FE7332D961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604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AC27-B98C-8993-36BB-EAB20540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552308-0D52-A6CE-8144-C7E2385467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E8F35A-A5F8-4726-861F-A33D4336A379}" type="slidenum">
              <a:t>6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F85E21-7F5F-B0A8-CE86-94BEC436D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E25228-D6DD-5AAC-63AE-FE7332D961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33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AC27-B98C-8993-36BB-EAB20540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552308-0D52-A6CE-8144-C7E2385467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E8F35A-A5F8-4726-861F-A33D4336A379}" type="slidenum">
              <a:t>7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F85E21-7F5F-B0A8-CE86-94BEC436D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E25228-D6DD-5AAC-63AE-FE7332D961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r>
              <a:rPr lang="en-US" dirty="0"/>
              <a:t>Wild- </a:t>
            </a:r>
            <a:r>
              <a:rPr lang="en-US" dirty="0" err="1"/>
              <a:t>behaviour</a:t>
            </a:r>
            <a:r>
              <a:rPr lang="en-US" dirty="0"/>
              <a:t> has limited its usage till now</a:t>
            </a:r>
          </a:p>
        </p:txBody>
      </p:sp>
    </p:spTree>
    <p:extLst>
      <p:ext uri="{BB962C8B-B14F-4D97-AF65-F5344CB8AC3E}">
        <p14:creationId xmlns:p14="http://schemas.microsoft.com/office/powerpoint/2010/main" val="3870388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AC27-B98C-8993-36BB-EAB20540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552308-0D52-A6CE-8144-C7E2385467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E8F35A-A5F8-4726-861F-A33D4336A379}" type="slidenum">
              <a:t>8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F85E21-7F5F-B0A8-CE86-94BEC436D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E25228-D6DD-5AAC-63AE-FE7332D961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r>
              <a:rPr lang="en-US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KAT </a:t>
            </a:r>
            <a:r>
              <a:rPr lang="en-US" sz="1200" b="1" dirty="0">
                <a:highlight>
                  <a:srgbClr val="F8CB28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has much in common with the UAT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It’s not an </a:t>
            </a:r>
            <a:r>
              <a:rPr lang="en-US" dirty="0" err="1"/>
              <a:t>apporx</a:t>
            </a:r>
            <a:r>
              <a:rPr lang="en-US" dirty="0"/>
              <a:t> like UAT</a:t>
            </a:r>
          </a:p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603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AC27-B98C-8993-36BB-EAB20540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552308-0D52-A6CE-8144-C7E2385467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E8F35A-A5F8-4726-861F-A33D4336A379}" type="slidenum">
              <a:t>9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F85E21-7F5F-B0A8-CE86-94BEC436D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E25228-D6DD-5AAC-63AE-FE7332D961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</a:t>
            </a:r>
            <a:r>
              <a:rPr lang="en-US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real contribution </a:t>
            </a:r>
            <a:r>
              <a:rPr lang="en-US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of the paper lies in the </a:t>
            </a:r>
            <a:r>
              <a:rPr lang="en-US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generalization</a:t>
            </a:r>
            <a:r>
              <a:rPr lang="en-US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of the KAT in a </a:t>
            </a:r>
            <a:r>
              <a:rPr lang="en-US" sz="1200" b="1" dirty="0">
                <a:solidFill>
                  <a:schemeClr val="bg1"/>
                </a:solidFill>
                <a:highlight>
                  <a:srgbClr val="800080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multi-layer</a:t>
            </a:r>
            <a:r>
              <a:rPr lang="en-US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neural network of </a:t>
            </a:r>
            <a:r>
              <a:rPr lang="en-US" sz="1200" b="1" dirty="0">
                <a:solidFill>
                  <a:schemeClr val="bg1"/>
                </a:solidFill>
                <a:highlight>
                  <a:srgbClr val="800080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arbitrary width</a:t>
            </a:r>
            <a:r>
              <a:rPr lang="en-US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709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AC27-B98C-8993-36BB-EAB20540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552308-0D52-A6CE-8144-C7E2385467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E8F35A-A5F8-4726-861F-A33D4336A379}" type="slidenum">
              <a:t>10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F85E21-7F5F-B0A8-CE86-94BEC436D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E25228-D6DD-5AAC-63AE-FE7332D961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</a:t>
            </a:r>
            <a:r>
              <a:rPr lang="en-US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real contribution </a:t>
            </a:r>
            <a:r>
              <a:rPr lang="en-US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of the paper lies in the </a:t>
            </a:r>
            <a:r>
              <a:rPr lang="en-US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generalization</a:t>
            </a:r>
            <a:r>
              <a:rPr lang="en-US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of the KAT in a </a:t>
            </a:r>
            <a:r>
              <a:rPr lang="en-US" sz="1200" b="1" dirty="0">
                <a:solidFill>
                  <a:schemeClr val="bg1"/>
                </a:solidFill>
                <a:highlight>
                  <a:srgbClr val="800080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multi-layer</a:t>
            </a:r>
            <a:r>
              <a:rPr lang="en-US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neural network of </a:t>
            </a:r>
            <a:r>
              <a:rPr lang="en-US" sz="1200" b="1" dirty="0">
                <a:solidFill>
                  <a:schemeClr val="bg1"/>
                </a:solidFill>
                <a:highlight>
                  <a:srgbClr val="800080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arbitrary width</a:t>
            </a:r>
            <a:r>
              <a:rPr lang="en-US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422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9A81D-BA6A-4222-B9A5-A0E7ADCB5B98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2512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AC27-B98C-8993-36BB-EAB20540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552308-0D52-A6CE-8144-C7E2385467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E8F35A-A5F8-4726-861F-A33D4336A379}" type="slidenum">
              <a:t>16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F85E21-7F5F-B0A8-CE86-94BEC436D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E25228-D6DD-5AAC-63AE-FE7332D961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547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Extraction for </a:t>
            </a:r>
            <a:r>
              <a:rPr lang="it-IT" dirty="0" err="1"/>
              <a:t>interpretability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9A81D-BA6A-4222-B9A5-A0E7ADCB5B98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65946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AC27-B98C-8993-36BB-EAB20540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552308-0D52-A6CE-8144-C7E2385467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E8F35A-A5F8-4726-861F-A33D4336A379}" type="slidenum">
              <a:t>21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F85E21-7F5F-B0A8-CE86-94BEC436D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E25228-D6DD-5AAC-63AE-FE7332D961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143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9A81D-BA6A-4222-B9A5-A0E7ADCB5B98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6190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9A81D-BA6A-4222-B9A5-A0E7ADCB5B98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53839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9A81D-BA6A-4222-B9A5-A0E7ADCB5B98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6858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AC27-B98C-8993-36BB-EAB20540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552308-0D52-A6CE-8144-C7E2385467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E8F35A-A5F8-4726-861F-A33D4336A379}" type="slidenum">
              <a:t>27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F85E21-7F5F-B0A8-CE86-94BEC436D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812800"/>
            <a:ext cx="0" cy="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E25228-D6DD-5AAC-63AE-FE7332D961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235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9A81D-BA6A-4222-B9A5-A0E7ADCB5B98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38414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9A81D-BA6A-4222-B9A5-A0E7ADCB5B98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81939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9A81D-BA6A-4222-B9A5-A0E7ADCB5B98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62065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9A81D-BA6A-4222-B9A5-A0E7ADCB5B98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67567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9A81D-BA6A-4222-B9A5-A0E7ADCB5B98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1657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CA21B2-E7DB-D495-C390-2EB7756D4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977BE61-C8B9-84CA-A54D-BD1C36D63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E63F5F-4848-1D7A-DE7E-3FAFB018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72107-ED1A-4142-B272-83F84DBB239C}" type="datetimeFigureOut">
              <a:rPr lang="it-IT" smtClean="0"/>
              <a:t>16/09/2025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2170FE7-65E4-3299-4C88-B2DAA01B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BFFD23-1C27-43D5-AE8D-06A103F3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EF77-CACE-4079-B848-5FF43E59342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4913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244924-38FE-101D-BA47-AE047064D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4A1A63-FDD5-6147-5876-D4153EB63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E0DFDD5-0829-48B9-18C2-3BD52CE8B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72107-ED1A-4142-B272-83F84DBB239C}" type="datetimeFigureOut">
              <a:rPr lang="it-IT" smtClean="0"/>
              <a:t>16/09/2025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0225AFE-09CA-7E53-9EAC-CFA661308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0AF5F0-E6FD-3F79-6702-2AA9288F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EF77-CACE-4079-B848-5FF43E59342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3128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9757A1-314E-7ADC-EEFA-C666EF89E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DB7D102-5FA7-731E-6BA7-C8B59017F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5F236A-3C41-7B6B-9202-217E8C3E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72107-ED1A-4142-B272-83F84DBB239C}" type="datetimeFigureOut">
              <a:rPr lang="it-IT" smtClean="0"/>
              <a:t>16/09/2025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EF945C-B470-F115-33EE-B8ECA46AD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67733E8-581E-085A-E9F1-C92EC357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EF77-CACE-4079-B848-5FF43E59342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7732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8B182A-A125-4644-E04D-A7358B519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CF9C2D-AD11-FF28-6861-D4945EF3B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51D4F19-3368-2B2B-D9D5-026223224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04F6CF5-39E8-DAAF-7B14-D48AB3D6D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72107-ED1A-4142-B272-83F84DBB239C}" type="datetimeFigureOut">
              <a:rPr lang="it-IT" smtClean="0"/>
              <a:t>16/09/2025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9287E82-ED95-3A04-72E1-0CE84C61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A8A841-5AAE-6356-96E4-54AA7D80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EF77-CACE-4079-B848-5FF43E59342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623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4AA4C8-0129-FB1A-FC72-30B1E97C1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88F4153-B07F-6849-94D9-042DE8B26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0ECD92D-E3D0-A1BB-46A0-EEBFBB83E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39DD7C2-3B07-74C9-39C8-93C311BCF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1E8A91-2F03-9701-F8A3-8034CD28EA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68A1C06-BB04-6D58-BB0A-8C58B6FA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72107-ED1A-4142-B272-83F84DBB239C}" type="datetimeFigureOut">
              <a:rPr lang="it-IT" smtClean="0"/>
              <a:t>16/09/2025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2ED7CD4-E42A-5D33-728A-E791CF60E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EA014AE-1BF1-473A-6167-14071B0C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EF77-CACE-4079-B848-5FF43E59342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7448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20F3E4-7453-39E8-0887-DC3111B77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1600ED9-2D34-277E-D523-C42E7630E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72107-ED1A-4142-B272-83F84DBB239C}" type="datetimeFigureOut">
              <a:rPr lang="it-IT" smtClean="0"/>
              <a:t>16/09/2025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2CA3523-3AE0-254C-BD47-BA36C06B6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DA87DA7-CC3D-64F1-D66A-9522915D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EF77-CACE-4079-B848-5FF43E59342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982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9DB2187-2DF7-5B35-200B-10AC7DCD0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72107-ED1A-4142-B272-83F84DBB239C}" type="datetimeFigureOut">
              <a:rPr lang="it-IT" smtClean="0"/>
              <a:t>16/09/2025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F80FD28-A419-4608-5367-5BFA4CEF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B02354B-88C1-26F1-FEFA-070A066C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EF77-CACE-4079-B848-5FF43E59342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3793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273895-11D3-31A6-9022-44DB105E0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96AC91-6924-1DB7-2DEB-EED34E0A5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DDAB9A-3AF0-DF2A-443B-68914FCE2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9996141-64F5-3B46-85D5-372D0722D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72107-ED1A-4142-B272-83F84DBB239C}" type="datetimeFigureOut">
              <a:rPr lang="it-IT" smtClean="0"/>
              <a:t>16/09/2025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5B0A0D1-EDC2-BB9D-7DA2-D0C38DAC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8D1E927-03F2-F6C5-248E-276F3F2CF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EF77-CACE-4079-B848-5FF43E59342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5492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CDFA1D-5E92-7878-4E98-24412B949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6FBB8C5-58DB-3856-90D7-62697C82E7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83EBEF5-463A-074D-D7D1-CB041C486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A07C708-3A0F-1C6A-706E-00A3FF061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72107-ED1A-4142-B272-83F84DBB239C}" type="datetimeFigureOut">
              <a:rPr lang="it-IT" smtClean="0"/>
              <a:t>16/09/2025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5E32F24-BB9B-21EC-856B-7AA294F4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D4A6F6-C735-FB4F-D6C5-8C5E33B0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EF77-CACE-4079-B848-5FF43E59342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055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D78920-8041-8C3A-B95E-78C6E65F7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CF64AA0-6C85-FA67-8519-C1A52400D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3CB7B2-F3C5-659B-97C7-B8F9E34B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72107-ED1A-4142-B272-83F84DBB239C}" type="datetimeFigureOut">
              <a:rPr lang="it-IT" smtClean="0"/>
              <a:t>16/09/2025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5355DB3-A853-FA93-F147-AA4883753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7F85D14-B46D-76EE-60A0-2E3FB8E4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EF77-CACE-4079-B848-5FF43E59342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1209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916EEE1-3576-4740-32ED-C8B52CB492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634D7F6-B160-1038-DBA2-31E4EF501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C2C567-EF80-922F-0A80-8F4DBD600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72107-ED1A-4142-B272-83F84DBB239C}" type="datetimeFigureOut">
              <a:rPr lang="it-IT" smtClean="0"/>
              <a:t>16/09/2025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8A48DD-C4A1-83A2-E902-BB4BE16EB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249D50-6DD1-FE20-67BE-0FFAD8B2D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EF77-CACE-4079-B848-5FF43E59342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8977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58A1EF2-5C98-E590-E077-D268AE68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7825CC2-10CD-AF14-97BA-E9AAD092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6310F2-F4E5-29EF-DB57-8CE95C7B9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72107-ED1A-4142-B272-83F84DBB239C}" type="datetimeFigureOut">
              <a:rPr lang="it-IT" smtClean="0"/>
              <a:t>16/09/2025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E10B96-1D3A-6CC0-0558-43F9DFD46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2A197B-CD89-DDCD-EEBB-A7A997C39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EEF77-CACE-4079-B848-5FF43E59342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2992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rPio/PHM_North_America_2024_Challenge" TargetMode="Externa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0" Type="http://schemas.microsoft.com/office/2007/relationships/hdphoto" Target="../media/hdphoto1.wdp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12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microsoft.com/office/2007/relationships/hdphoto" Target="../media/hdphoto1.wdp"/><Relationship Id="rId5" Type="http://schemas.openxmlformats.org/officeDocument/2006/relationships/image" Target="../media/image21.svg"/><Relationship Id="rId10" Type="http://schemas.openxmlformats.org/officeDocument/2006/relationships/image" Target="../media/image2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E7255FF1-3CCE-1F74-C2DF-94A88B1CC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408708"/>
            <a:ext cx="12192000" cy="5362575"/>
          </a:xfrm>
          <a:prstGeom prst="rect">
            <a:avLst/>
          </a:prstGeom>
        </p:spPr>
      </p:pic>
      <p:sp>
        <p:nvSpPr>
          <p:cNvPr id="8" name="CasellaDiTesto 12">
            <a:extLst>
              <a:ext uri="{FF2B5EF4-FFF2-40B4-BE49-F238E27FC236}">
                <a16:creationId xmlns:a16="http://schemas.microsoft.com/office/drawing/2014/main" id="{E53EB550-E463-3E05-5B7E-E554FF6CFE23}"/>
              </a:ext>
            </a:extLst>
          </p:cNvPr>
          <p:cNvSpPr txBox="1"/>
          <p:nvPr/>
        </p:nvSpPr>
        <p:spPr>
          <a:xfrm>
            <a:off x="7501497" y="4276523"/>
            <a:ext cx="46092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i="1" dirty="0">
              <a:solidFill>
                <a:srgbClr val="C7C7C7"/>
              </a:solidFill>
              <a:latin typeface="Noto Sans"/>
              <a:ea typeface="Noto Sans CJK SC" pitchFamily="2"/>
              <a:cs typeface="Noto Sans Devanagari"/>
            </a:endParaRPr>
          </a:p>
          <a:p>
            <a:pPr algn="r"/>
            <a:r>
              <a:rPr lang="en-US" sz="1400" i="1" dirty="0">
                <a:solidFill>
                  <a:srgbClr val="C7C7C7"/>
                </a:solidFill>
                <a:latin typeface="Noto Sans"/>
                <a:ea typeface="Noto Sans CJK SC" pitchFamily="2"/>
                <a:cs typeface="Noto Sans Devanagari"/>
              </a:rPr>
              <a:t>“The Continuity of Splines” ~ by Freya </a:t>
            </a:r>
            <a:r>
              <a:rPr lang="en-US" sz="1400" i="1" dirty="0" err="1">
                <a:solidFill>
                  <a:srgbClr val="C7C7C7"/>
                </a:solidFill>
                <a:latin typeface="Noto Sans"/>
                <a:ea typeface="Noto Sans CJK SC" pitchFamily="2"/>
                <a:cs typeface="Noto Sans Devanagari"/>
              </a:rPr>
              <a:t>Holmér</a:t>
            </a:r>
            <a:endParaRPr lang="en-US" sz="1400" i="1" dirty="0">
              <a:solidFill>
                <a:srgbClr val="C7C7C7"/>
              </a:solidFill>
              <a:latin typeface="Noto Sans"/>
              <a:ea typeface="Noto Sans CJK SC" pitchFamily="2"/>
              <a:cs typeface="Noto Sans Devanagari"/>
            </a:endParaRPr>
          </a:p>
          <a:p>
            <a:pPr algn="r"/>
            <a:endParaRPr lang="en-US" sz="1400" i="1" dirty="0">
              <a:solidFill>
                <a:srgbClr val="C7C7C7"/>
              </a:solidFill>
              <a:latin typeface="Noto Sans"/>
              <a:ea typeface="Noto Sans CJK SC" pitchFamily="2"/>
              <a:cs typeface="Noto Sans Devanagari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AAB38EC-B119-97B3-F930-F907ED6FA1D9}"/>
              </a:ext>
            </a:extLst>
          </p:cNvPr>
          <p:cNvSpPr/>
          <p:nvPr/>
        </p:nvSpPr>
        <p:spPr>
          <a:xfrm>
            <a:off x="-7336" y="4849019"/>
            <a:ext cx="12212663" cy="2008982"/>
          </a:xfrm>
          <a:prstGeom prst="rect">
            <a:avLst/>
          </a:prstGeom>
          <a:solidFill>
            <a:srgbClr val="1F43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F3C1894F-CFD2-F992-9690-A8DBA0BA7B24}"/>
              </a:ext>
            </a:extLst>
          </p:cNvPr>
          <p:cNvSpPr txBox="1">
            <a:spLocks/>
          </p:cNvSpPr>
          <p:nvPr/>
        </p:nvSpPr>
        <p:spPr>
          <a:xfrm>
            <a:off x="125250" y="4951282"/>
            <a:ext cx="8875986" cy="117558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r">
              <a:defRPr/>
            </a:pPr>
            <a:r>
              <a:rPr kumimoji="0" lang="en-US" sz="2800" b="1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Franklin Gothic Demi"/>
                <a:ea typeface="+mj-ea"/>
                <a:cs typeface="+mj-cs"/>
              </a:rPr>
              <a:t>Using Kolmogorov-Arnold Networks for an Interpretable and Continual Fault Detection of Helicopter Turbine Engine</a:t>
            </a:r>
            <a:endParaRPr kumimoji="0" lang="en-US" sz="2800" b="0" i="0" u="none" strike="noStrike" kern="1200" cap="none" spc="100" normalizeH="0" baseline="0" noProof="0" dirty="0">
              <a:ln>
                <a:noFill/>
              </a:ln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B106C02-FC58-1ACA-8CD2-259E9295D3E7}"/>
              </a:ext>
            </a:extLst>
          </p:cNvPr>
          <p:cNvSpPr txBox="1"/>
          <p:nvPr/>
        </p:nvSpPr>
        <p:spPr>
          <a:xfrm>
            <a:off x="125250" y="6249502"/>
            <a:ext cx="8875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u="sng" dirty="0" err="1">
                <a:solidFill>
                  <a:schemeClr val="bg1"/>
                </a:solidFill>
                <a:latin typeface="Noto Sans"/>
                <a:ea typeface="Noto Sans CJK SC" pitchFamily="2"/>
                <a:cs typeface="Noto Sans Devanagari"/>
              </a:rPr>
              <a:t>Universit</a:t>
            </a:r>
            <a:r>
              <a:rPr lang="it-IT" sz="2000" u="sng" dirty="0">
                <a:solidFill>
                  <a:schemeClr val="bg1"/>
                </a:solidFill>
                <a:latin typeface="Noto Sans"/>
                <a:ea typeface="Noto Sans CJK SC" pitchFamily="2"/>
                <a:cs typeface="Noto Sans Devanagari"/>
              </a:rPr>
              <a:t>à Politecnica delle Marche</a:t>
            </a:r>
            <a:endParaRPr lang="en-US" sz="2000" u="sng" dirty="0">
              <a:solidFill>
                <a:schemeClr val="bg1"/>
              </a:solidFill>
              <a:latin typeface="Noto Sans"/>
              <a:ea typeface="Noto Sans CJK SC" pitchFamily="2"/>
              <a:cs typeface="Noto Sans Devanagari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A9934D1-10A2-3F98-F955-9B6555DDA1F1}"/>
              </a:ext>
            </a:extLst>
          </p:cNvPr>
          <p:cNvSpPr txBox="1"/>
          <p:nvPr/>
        </p:nvSpPr>
        <p:spPr>
          <a:xfrm>
            <a:off x="9624675" y="4976347"/>
            <a:ext cx="25216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Noto Sans"/>
                <a:ea typeface="Noto Sans CJK SC" pitchFamily="2"/>
                <a:cs typeface="Noto Sans Devanagari"/>
              </a:rPr>
              <a:t>Valerio </a:t>
            </a:r>
            <a:r>
              <a:rPr lang="en-US" b="1" dirty="0">
                <a:solidFill>
                  <a:schemeClr val="bg1"/>
                </a:solidFill>
                <a:latin typeface="Noto Sans"/>
                <a:ea typeface="Noto Sans CJK SC" pitchFamily="2"/>
                <a:cs typeface="Noto Sans Devanagari"/>
              </a:rPr>
              <a:t>Morelli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Noto Sans"/>
                <a:ea typeface="Noto Sans CJK SC" pitchFamily="2"/>
                <a:cs typeface="Noto Sans Devanagari"/>
              </a:rPr>
              <a:t>Federica </a:t>
            </a:r>
            <a:r>
              <a:rPr lang="en-US" b="1" dirty="0" err="1">
                <a:solidFill>
                  <a:schemeClr val="bg1"/>
                </a:solidFill>
                <a:latin typeface="Noto Sans"/>
                <a:ea typeface="Noto Sans CJK SC" pitchFamily="2"/>
                <a:cs typeface="Noto Sans Devanagari"/>
              </a:rPr>
              <a:t>Paganica</a:t>
            </a:r>
            <a:endParaRPr lang="en-US" b="1" dirty="0">
              <a:solidFill>
                <a:schemeClr val="bg1"/>
              </a:solidFill>
              <a:latin typeface="Noto Sans"/>
              <a:ea typeface="Noto Sans CJK SC" pitchFamily="2"/>
              <a:cs typeface="Noto Sans Devanagari"/>
            </a:endParaRPr>
          </a:p>
          <a:p>
            <a:pPr algn="just"/>
            <a:r>
              <a:rPr lang="en-US" dirty="0">
                <a:solidFill>
                  <a:schemeClr val="bg1"/>
                </a:solidFill>
                <a:latin typeface="Noto Sans"/>
              </a:rPr>
              <a:t>Federico </a:t>
            </a:r>
            <a:r>
              <a:rPr lang="en-US" b="1" dirty="0" err="1">
                <a:solidFill>
                  <a:schemeClr val="bg1"/>
                </a:solidFill>
                <a:latin typeface="Noto Sans"/>
              </a:rPr>
              <a:t>Staffolani</a:t>
            </a:r>
            <a:endParaRPr lang="en-US" b="1" dirty="0">
              <a:solidFill>
                <a:schemeClr val="bg1"/>
              </a:solidFill>
              <a:latin typeface="Noto Sans"/>
            </a:endParaRPr>
          </a:p>
          <a:p>
            <a:pPr algn="just"/>
            <a:r>
              <a:rPr lang="en-US" dirty="0">
                <a:solidFill>
                  <a:schemeClr val="bg1"/>
                </a:solidFill>
                <a:latin typeface="Noto Sans"/>
              </a:rPr>
              <a:t>Enrico M. </a:t>
            </a:r>
            <a:r>
              <a:rPr lang="en-US" b="1" dirty="0" err="1">
                <a:solidFill>
                  <a:schemeClr val="bg1"/>
                </a:solidFill>
                <a:latin typeface="Noto Sans"/>
              </a:rPr>
              <a:t>Sardellini</a:t>
            </a:r>
            <a:endParaRPr lang="en-US" b="1" dirty="0">
              <a:solidFill>
                <a:schemeClr val="bg1"/>
              </a:solidFill>
              <a:latin typeface="Noto Sans"/>
            </a:endParaRPr>
          </a:p>
          <a:p>
            <a:pPr algn="just"/>
            <a:r>
              <a:rPr lang="en-US" dirty="0">
                <a:solidFill>
                  <a:schemeClr val="bg1"/>
                </a:solidFill>
                <a:latin typeface="Noto Sans"/>
              </a:rPr>
              <a:t>Lucia </a:t>
            </a:r>
            <a:r>
              <a:rPr lang="en-US" b="1" dirty="0" err="1">
                <a:solidFill>
                  <a:schemeClr val="bg1"/>
                </a:solidFill>
                <a:latin typeface="Noto Sans"/>
              </a:rPr>
              <a:t>Migliorelli</a:t>
            </a:r>
            <a:r>
              <a:rPr lang="en-US" dirty="0">
                <a:solidFill>
                  <a:schemeClr val="bg1"/>
                </a:solidFill>
                <a:latin typeface="Noto Sans"/>
              </a:rPr>
              <a:t>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Noto Sans"/>
              </a:rPr>
              <a:t>Alessandro </a:t>
            </a:r>
            <a:r>
              <a:rPr lang="en-US" b="1" dirty="0">
                <a:solidFill>
                  <a:schemeClr val="bg1"/>
                </a:solidFill>
                <a:latin typeface="Noto Sans"/>
              </a:rPr>
              <a:t>Freddi</a:t>
            </a:r>
            <a:endParaRPr lang="en-US" sz="1600" b="1" i="1" dirty="0">
              <a:solidFill>
                <a:schemeClr val="bg1"/>
              </a:solidFill>
              <a:latin typeface="Noto Sans"/>
            </a:endParaRPr>
          </a:p>
        </p:txBody>
      </p:sp>
      <p:pic>
        <p:nvPicPr>
          <p:cNvPr id="16" name="Immagine 1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E905DD97-EACE-7060-B969-E44705C97E2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2" name="Immagine 1" descr="Immagine che contiene gatto, mammifero, silhouette&#10;&#10;Descrizione generata automaticamente">
            <a:hlinkClick r:id="rId6"/>
            <a:extLst>
              <a:ext uri="{FF2B5EF4-FFF2-40B4-BE49-F238E27FC236}">
                <a16:creationId xmlns:a16="http://schemas.microsoft.com/office/drawing/2014/main" id="{582D7165-A955-652A-2B41-9FF305AE821B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50" y="149428"/>
            <a:ext cx="716280" cy="716280"/>
          </a:xfrm>
          <a:prstGeom prst="rect">
            <a:avLst/>
          </a:prstGeom>
        </p:spPr>
      </p:pic>
      <p:pic>
        <p:nvPicPr>
          <p:cNvPr id="3" name="Immagine 2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A3185BE8-DA81-C817-994D-1FB7D2F415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19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39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631EB-1CC1-C020-6B2C-18BBE0CC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6B149A67-0C4E-4353-2C51-A70DB9EA3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  <p:sp>
        <p:nvSpPr>
          <p:cNvPr id="39" name="Titolo 1">
            <a:extLst>
              <a:ext uri="{FF2B5EF4-FFF2-40B4-BE49-F238E27FC236}">
                <a16:creationId xmlns:a16="http://schemas.microsoft.com/office/drawing/2014/main" id="{9C9A32BA-5389-4D98-865E-C9326D68A745}"/>
              </a:ext>
            </a:extLst>
          </p:cNvPr>
          <p:cNvSpPr txBox="1">
            <a:spLocks/>
          </p:cNvSpPr>
          <p:nvPr/>
        </p:nvSpPr>
        <p:spPr>
          <a:xfrm>
            <a:off x="0" y="2435253"/>
            <a:ext cx="12192000" cy="1987494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 hangingPunct="0"/>
            <a:r>
              <a:rPr lang="en-US" sz="5400" b="0" dirty="0">
                <a:solidFill>
                  <a:schemeClr val="bg1"/>
                </a:solidFill>
                <a:latin typeface="Franklin Gothic Demi"/>
              </a:rPr>
              <a:t>The need for </a:t>
            </a:r>
            <a:r>
              <a:rPr lang="en-US" sz="5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transparency and robustness in fault detection systems</a:t>
            </a:r>
            <a:endParaRPr lang="en-US" sz="5400" b="0" dirty="0">
              <a:solidFill>
                <a:schemeClr val="bg1"/>
              </a:solidFill>
              <a:latin typeface="Franklin Gothic Demi" panose="020B0703020102020204" pitchFamily="34" charset="0"/>
              <a:ea typeface="ADLaM Display" panose="020F0502020204030204" pitchFamily="2" charset="0"/>
              <a:cs typeface="Noto Sans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930643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631EB-1CC1-C020-6B2C-18BBE0CC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1">
            <a:extLst>
              <a:ext uri="{FF2B5EF4-FFF2-40B4-BE49-F238E27FC236}">
                <a16:creationId xmlns:a16="http://schemas.microsoft.com/office/drawing/2014/main" id="{98730641-FA49-2E8F-8F93-0822C8B99B06}"/>
              </a:ext>
            </a:extLst>
          </p:cNvPr>
          <p:cNvSpPr txBox="1">
            <a:spLocks/>
          </p:cNvSpPr>
          <p:nvPr/>
        </p:nvSpPr>
        <p:spPr>
          <a:xfrm>
            <a:off x="1" y="415456"/>
            <a:ext cx="12192000" cy="793637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 hangingPunct="0"/>
            <a:r>
              <a:rPr kumimoji="0" lang="en-US" sz="440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Franklin Gothic Demi"/>
                <a:ea typeface="+mj-ea"/>
                <a:cs typeface="+mj-cs"/>
              </a:rPr>
              <a:t>The focus of this research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12EF153-8DF9-51BA-1F79-CEA51D3BF427}"/>
              </a:ext>
            </a:extLst>
          </p:cNvPr>
          <p:cNvSpPr txBox="1"/>
          <p:nvPr/>
        </p:nvSpPr>
        <p:spPr>
          <a:xfrm>
            <a:off x="429768" y="1339981"/>
            <a:ext cx="11314557" cy="4975094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800" i="1" u="sng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Fault detection system</a:t>
            </a:r>
            <a:r>
              <a:rPr lang="en-US" sz="2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an incorrect prediction can cause </a:t>
            </a:r>
            <a:r>
              <a:rPr lang="en-US" sz="28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costly system shutdown and reconfigurations </a:t>
            </a:r>
            <a:r>
              <a:rPr lang="en-US" sz="2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and even </a:t>
            </a:r>
            <a:r>
              <a:rPr lang="en-US" sz="28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compromise safety</a:t>
            </a:r>
            <a:r>
              <a:rPr lang="en-US" sz="2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2800" i="1" u="sng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Online pipelines</a:t>
            </a:r>
            <a:r>
              <a:rPr lang="en-US" sz="2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environmental conditions tend to evolve over time, requiring </a:t>
            </a:r>
            <a:r>
              <a:rPr lang="en-US" sz="28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resilience to catastrophic forgetting</a:t>
            </a:r>
            <a:r>
              <a:rPr lang="en-US" sz="2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8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Dual need for transparency and robustness </a:t>
            </a:r>
            <a:r>
              <a:rPr lang="en-US" sz="28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=&gt;</a:t>
            </a:r>
            <a:r>
              <a:rPr lang="en-US" sz="2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most current solutions rely on statistical or simple machine learning models</a:t>
            </a:r>
            <a:r>
              <a:rPr lang="en-US" sz="2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</p:txBody>
      </p:sp>
      <p:pic>
        <p:nvPicPr>
          <p:cNvPr id="3" name="Immagine 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FB77F244-A52E-24EA-7F33-856D4C4E97D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4" name="Immagine 3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7FDA7354-FF54-863C-D4C5-52520C2712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48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631EB-1CC1-C020-6B2C-18BBE0CC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D02FA7C5-0DBA-3D40-3D0F-0552E8BE6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1" r="27091"/>
          <a:stretch/>
        </p:blipFill>
        <p:spPr>
          <a:xfrm>
            <a:off x="6236103" y="0"/>
            <a:ext cx="5962785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8" name="Immagine 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B79F836-7448-739A-967B-F268973724D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sp>
        <p:nvSpPr>
          <p:cNvPr id="9" name="Titolo 1">
            <a:extLst>
              <a:ext uri="{FF2B5EF4-FFF2-40B4-BE49-F238E27FC236}">
                <a16:creationId xmlns:a16="http://schemas.microsoft.com/office/drawing/2014/main" id="{98730641-FA49-2E8F-8F93-0822C8B99B06}"/>
              </a:ext>
            </a:extLst>
          </p:cNvPr>
          <p:cNvSpPr txBox="1">
            <a:spLocks/>
          </p:cNvSpPr>
          <p:nvPr/>
        </p:nvSpPr>
        <p:spPr>
          <a:xfrm>
            <a:off x="493775" y="415456"/>
            <a:ext cx="5602223" cy="793637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hangingPunct="0"/>
            <a:r>
              <a:rPr kumimoji="0" lang="en-US" sz="440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Franklin Gothic Demi"/>
                <a:ea typeface="+mj-ea"/>
                <a:cs typeface="+mj-cs"/>
              </a:rPr>
              <a:t>The PHM Challenge</a:t>
            </a:r>
            <a:endParaRPr lang="en-US" sz="4400" dirty="0">
              <a:solidFill>
                <a:schemeClr val="bg1"/>
              </a:solidFill>
              <a:latin typeface="Franklin Gothic Demi" panose="020B0703020102020204" pitchFamily="34" charset="0"/>
              <a:ea typeface="ADLaM Display" panose="020F0502020204030204" pitchFamily="2" charset="0"/>
              <a:cs typeface="Noto Sans Devanagari" pitchFamily="2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68E53BB-1CF0-5106-2467-CEBF20BD065E}"/>
              </a:ext>
            </a:extLst>
          </p:cNvPr>
          <p:cNvSpPr txBox="1"/>
          <p:nvPr/>
        </p:nvSpPr>
        <p:spPr>
          <a:xfrm>
            <a:off x="493775" y="1332918"/>
            <a:ext cx="5462123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Noto Sans"/>
                <a:ea typeface="Noto Sans"/>
                <a:cs typeface="Noto Sans Devanagari"/>
              </a:rPr>
              <a:t>The goal is to </a:t>
            </a:r>
            <a:r>
              <a:rPr lang="en-US" sz="2800" b="1" dirty="0">
                <a:solidFill>
                  <a:schemeClr val="bg1"/>
                </a:solidFill>
                <a:highlight>
                  <a:srgbClr val="1F4394"/>
                </a:highlight>
                <a:latin typeface="Noto Sans"/>
                <a:ea typeface="Noto Sans"/>
                <a:cs typeface="Noto Sans Devanagari"/>
              </a:rPr>
              <a:t>assess the health of helicopter turbine engines</a:t>
            </a:r>
            <a:r>
              <a:rPr lang="en-US" sz="2800" dirty="0">
                <a:solidFill>
                  <a:schemeClr val="bg1"/>
                </a:solidFill>
                <a:latin typeface="Noto Sans"/>
                <a:ea typeface="Noto Sans"/>
                <a:cs typeface="Noto Sans Devanagari"/>
              </a:rPr>
              <a:t>. </a:t>
            </a:r>
          </a:p>
          <a:p>
            <a:endParaRPr lang="en-US" sz="2800" dirty="0">
              <a:solidFill>
                <a:schemeClr val="bg1"/>
              </a:solidFill>
              <a:latin typeface="Noto Sans"/>
              <a:ea typeface="Noto Sans"/>
              <a:cs typeface="Noto Sans Devanagari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i="1" u="sng" dirty="0">
                <a:solidFill>
                  <a:schemeClr val="bg1"/>
                </a:solidFill>
                <a:latin typeface="Noto Sans"/>
                <a:ea typeface="Noto Sans"/>
                <a:cs typeface="Noto Sans Devanagari"/>
              </a:rPr>
              <a:t>Regression</a:t>
            </a:r>
            <a:r>
              <a:rPr lang="en-US" sz="2800" dirty="0">
                <a:solidFill>
                  <a:schemeClr val="bg1"/>
                </a:solidFill>
                <a:latin typeface="Noto Sans"/>
                <a:ea typeface="Noto Sans"/>
                <a:cs typeface="Noto Sans Devanagari"/>
              </a:rPr>
              <a:t>: predict the torque margin expressed as a PDF.</a:t>
            </a:r>
          </a:p>
          <a:p>
            <a:endParaRPr lang="en-US" sz="2800" dirty="0">
              <a:solidFill>
                <a:schemeClr val="bg1"/>
              </a:solidFill>
              <a:latin typeface="Noto Sans"/>
              <a:ea typeface="Noto Sans"/>
              <a:cs typeface="Noto Sans Devanagari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i="1" u="sng" dirty="0">
                <a:solidFill>
                  <a:schemeClr val="bg1"/>
                </a:solidFill>
                <a:latin typeface="Noto Sans"/>
                <a:ea typeface="Noto Sans"/>
                <a:cs typeface="Noto Sans Devanagari"/>
              </a:rPr>
              <a:t>Classification</a:t>
            </a:r>
            <a:r>
              <a:rPr lang="en-US" sz="2800" dirty="0">
                <a:solidFill>
                  <a:schemeClr val="bg1"/>
                </a:solidFill>
                <a:latin typeface="Noto Sans"/>
                <a:ea typeface="Noto Sans"/>
                <a:cs typeface="Noto Sans Devanagari"/>
              </a:rPr>
              <a:t>: detect if the engine is faulty.</a:t>
            </a:r>
          </a:p>
          <a:p>
            <a:endParaRPr lang="en-US" sz="2400" dirty="0">
              <a:solidFill>
                <a:schemeClr val="bg1"/>
              </a:solidFill>
              <a:latin typeface="Noto Sans"/>
              <a:ea typeface="Noto Sans"/>
              <a:cs typeface="Noto Sans Devanagari"/>
            </a:endParaRPr>
          </a:p>
        </p:txBody>
      </p:sp>
      <p:pic>
        <p:nvPicPr>
          <p:cNvPr id="5" name="Immagine 4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2082D4B-606D-27A3-8358-34618D27B8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583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631EB-1CC1-C020-6B2C-18BBE0CC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B79F836-7448-739A-967B-F268973724D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sp>
        <p:nvSpPr>
          <p:cNvPr id="9" name="Titolo 1">
            <a:extLst>
              <a:ext uri="{FF2B5EF4-FFF2-40B4-BE49-F238E27FC236}">
                <a16:creationId xmlns:a16="http://schemas.microsoft.com/office/drawing/2014/main" id="{98730641-FA49-2E8F-8F93-0822C8B99B06}"/>
              </a:ext>
            </a:extLst>
          </p:cNvPr>
          <p:cNvSpPr txBox="1">
            <a:spLocks/>
          </p:cNvSpPr>
          <p:nvPr/>
        </p:nvSpPr>
        <p:spPr>
          <a:xfrm>
            <a:off x="1" y="415456"/>
            <a:ext cx="12192000" cy="793637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 hangingPunct="0"/>
            <a:r>
              <a:rPr kumimoji="0" lang="en-US" sz="440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Franklin Gothic Demi"/>
                <a:ea typeface="+mj-ea"/>
                <a:cs typeface="+mj-cs"/>
              </a:rPr>
              <a:t>The dataset has 7 features</a:t>
            </a:r>
            <a:endParaRPr lang="en-US" sz="4400" dirty="0">
              <a:solidFill>
                <a:schemeClr val="bg1"/>
              </a:solidFill>
              <a:latin typeface="Franklin Gothic Demi" panose="020B0703020102020204" pitchFamily="34" charset="0"/>
              <a:ea typeface="ADLaM Display" panose="020F0502020204030204" pitchFamily="2" charset="0"/>
              <a:cs typeface="Noto Sans Devanagari" pitchFamily="2"/>
            </a:endParaRPr>
          </a:p>
        </p:txBody>
      </p:sp>
      <p:pic>
        <p:nvPicPr>
          <p:cNvPr id="5" name="Immagine 4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2082D4B-606D-27A3-8358-34618D27B8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4AB10F15-3777-5AFC-2E8A-250DC1D53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73541"/>
              </p:ext>
            </p:extLst>
          </p:nvPr>
        </p:nvGraphicFramePr>
        <p:xfrm>
          <a:off x="583022" y="1307732"/>
          <a:ext cx="11025956" cy="5291935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4825181">
                  <a:extLst>
                    <a:ext uri="{9D8B030D-6E8A-4147-A177-3AD203B41FA5}">
                      <a16:colId xmlns:a16="http://schemas.microsoft.com/office/drawing/2014/main" val="3487730230"/>
                    </a:ext>
                  </a:extLst>
                </a:gridCol>
                <a:gridCol w="6200775">
                  <a:extLst>
                    <a:ext uri="{9D8B030D-6E8A-4147-A177-3AD203B41FA5}">
                      <a16:colId xmlns:a16="http://schemas.microsoft.com/office/drawing/2014/main" val="2248244422"/>
                    </a:ext>
                  </a:extLst>
                </a:gridCol>
              </a:tblGrid>
              <a:tr h="503624"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Feature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b="1" dirty="0" err="1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Description</a:t>
                      </a:r>
                      <a:endParaRPr lang="it-IT" sz="2400" b="1" dirty="0">
                        <a:solidFill>
                          <a:schemeClr val="bg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167083"/>
                  </a:ext>
                </a:extLst>
              </a:tr>
              <a:tr h="906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b="1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Mean gas temperature </a:t>
                      </a:r>
                      <a:r>
                        <a:rPr lang="it-IT" sz="2400" b="0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(</a:t>
                      </a:r>
                      <a:r>
                        <a:rPr lang="it-IT" sz="2400" b="0" u="none" strike="noStrike" baseline="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mgt</a:t>
                      </a:r>
                      <a:r>
                        <a:rPr lang="it-IT" sz="2400" b="0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)</a:t>
                      </a:r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Average temperature inside the turbine (°C)</a:t>
                      </a:r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788751"/>
                  </a:ext>
                </a:extLst>
              </a:tr>
              <a:tr h="906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b="1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Pressure </a:t>
                      </a:r>
                      <a:r>
                        <a:rPr lang="it-IT" sz="2400" b="1" u="none" strike="noStrike" baseline="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altitude</a:t>
                      </a:r>
                      <a:r>
                        <a:rPr lang="it-IT" sz="2400" b="1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</a:t>
                      </a:r>
                      <a:r>
                        <a:rPr lang="it-IT" sz="2400" b="0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(</a:t>
                      </a:r>
                      <a:r>
                        <a:rPr lang="it-IT" sz="2400" b="0" u="none" strike="noStrike" baseline="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pa</a:t>
                      </a:r>
                      <a:r>
                        <a:rPr lang="it-IT" sz="2400" b="0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)</a:t>
                      </a:r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  <a:p>
                      <a:pPr algn="l"/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Height above the standard atmospheric pressure level (feet)</a:t>
                      </a:r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268206"/>
                  </a:ext>
                </a:extLst>
              </a:tr>
              <a:tr h="906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b="1" u="none" strike="noStrike" baseline="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Indicated</a:t>
                      </a:r>
                      <a:r>
                        <a:rPr lang="it-IT" sz="2400" b="1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</a:t>
                      </a:r>
                      <a:r>
                        <a:rPr lang="it-IT" sz="2400" b="1" u="none" strike="noStrike" baseline="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airspeed</a:t>
                      </a:r>
                      <a:r>
                        <a:rPr lang="it-IT" sz="2400" b="1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</a:t>
                      </a:r>
                      <a:r>
                        <a:rPr lang="it-IT" sz="2400" b="0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(</a:t>
                      </a:r>
                      <a:r>
                        <a:rPr lang="it-IT" sz="2400" b="0" u="none" strike="noStrike" baseline="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ias</a:t>
                      </a:r>
                      <a:r>
                        <a:rPr lang="it-IT" sz="2400" b="0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)</a:t>
                      </a:r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Speed of the helicopter relative to the surrounding air (knots)</a:t>
                      </a:r>
                      <a:endParaRPr lang="it-IT" sz="2400" i="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14185"/>
                  </a:ext>
                </a:extLst>
              </a:tr>
              <a:tr h="5171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b="1" u="none" strike="noStrike" baseline="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Compressor</a:t>
                      </a:r>
                      <a:r>
                        <a:rPr lang="it-IT" sz="2400" b="1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speed </a:t>
                      </a:r>
                      <a:r>
                        <a:rPr lang="it-IT" sz="2400" b="0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(ng)</a:t>
                      </a:r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Speed of the engine’s compressor (%)</a:t>
                      </a:r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180061"/>
                  </a:ext>
                </a:extLst>
              </a:tr>
              <a:tr h="5171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b="1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Torque </a:t>
                      </a:r>
                      <a:r>
                        <a:rPr lang="it-IT" sz="2400" b="1" u="none" strike="noStrike" baseline="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measured</a:t>
                      </a:r>
                      <a:r>
                        <a:rPr lang="it-IT" sz="2400" b="1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</a:t>
                      </a:r>
                      <a:r>
                        <a:rPr lang="it-IT" sz="2400" b="0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(</a:t>
                      </a:r>
                      <a:r>
                        <a:rPr lang="it-IT" sz="2400" b="0" u="none" strike="noStrike" baseline="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Tmeasured</a:t>
                      </a:r>
                      <a:r>
                        <a:rPr lang="it-IT" sz="2400" b="0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) </a:t>
                      </a:r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Actual engine torque output (%)</a:t>
                      </a:r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557142"/>
                  </a:ext>
                </a:extLst>
              </a:tr>
              <a:tr h="5171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b="1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Net power </a:t>
                      </a:r>
                      <a:r>
                        <a:rPr lang="it-IT" sz="2400" b="0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(</a:t>
                      </a:r>
                      <a:r>
                        <a:rPr lang="it-IT" sz="2400" b="0" u="none" strike="noStrike" baseline="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np</a:t>
                      </a:r>
                      <a:r>
                        <a:rPr lang="it-IT" sz="2400" b="0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)</a:t>
                      </a:r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Effective power output of the engine (%)</a:t>
                      </a:r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277974"/>
                  </a:ext>
                </a:extLst>
              </a:tr>
              <a:tr h="5171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Outside air temperature </a:t>
                      </a:r>
                      <a:r>
                        <a:rPr lang="en-US" sz="2400" b="0" u="none" strike="noStrike" baseline="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(oat)</a:t>
                      </a:r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Temperature of the external air (°C)</a:t>
                      </a:r>
                      <a:endParaRPr lang="it-IT" sz="2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01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893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39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631EB-1CC1-C020-6B2C-18BBE0CC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olo 1">
            <a:extLst>
              <a:ext uri="{FF2B5EF4-FFF2-40B4-BE49-F238E27FC236}">
                <a16:creationId xmlns:a16="http://schemas.microsoft.com/office/drawing/2014/main" id="{9C9A32BA-5389-4D98-865E-C9326D68A745}"/>
              </a:ext>
            </a:extLst>
          </p:cNvPr>
          <p:cNvSpPr txBox="1">
            <a:spLocks/>
          </p:cNvSpPr>
          <p:nvPr/>
        </p:nvSpPr>
        <p:spPr>
          <a:xfrm>
            <a:off x="0" y="3032181"/>
            <a:ext cx="12192000" cy="793637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 hangingPunct="0"/>
            <a:r>
              <a:rPr kumimoji="0" lang="en-US" sz="5400" b="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Franklin Gothic Demi"/>
                <a:ea typeface="+mj-ea"/>
                <a:cs typeface="+mj-cs"/>
              </a:rPr>
              <a:t>Kolmogorov-Arnold Network</a:t>
            </a:r>
            <a:endParaRPr lang="en-US" sz="5400" b="0" dirty="0">
              <a:solidFill>
                <a:schemeClr val="bg1"/>
              </a:solidFill>
              <a:latin typeface="Franklin Gothic Demi" panose="020B0703020102020204" pitchFamily="34" charset="0"/>
              <a:ea typeface="ADLaM Display" panose="020F0502020204030204" pitchFamily="2" charset="0"/>
              <a:cs typeface="Noto Sans Devanagari" pitchFamily="2"/>
            </a:endParaRPr>
          </a:p>
        </p:txBody>
      </p:sp>
      <p:pic>
        <p:nvPicPr>
          <p:cNvPr id="40" name="Immagine 3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A895D33A-F13A-2A5C-8A02-82F77DA340A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2" name="Immagine 1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3A8C171B-0FD1-1C20-C742-129F4EB34F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60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631EB-1CC1-C020-6B2C-18BBE0CC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2033CB21-7F32-3F54-BF49-63125348C156}"/>
                  </a:ext>
                </a:extLst>
              </p:cNvPr>
              <p:cNvSpPr txBox="1"/>
              <p:nvPr/>
            </p:nvSpPr>
            <p:spPr>
              <a:xfrm>
                <a:off x="1" y="2836995"/>
                <a:ext cx="12463916" cy="1906102"/>
              </a:xfrm>
              <a:prstGeom prst="rect">
                <a:avLst/>
              </a:prstGeom>
            </p:spPr>
            <p:txBody>
              <a:bodyPr vert="horz" lIns="91440" tIns="45720" rIns="91440" bIns="45720" rtlCol="0" anchorCtr="0" compatLnSpc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𝒇</m:t>
                      </m:r>
                      <m:d>
                        <m:dPr>
                          <m:ctrlPr>
                            <a:rPr lang="en-US" sz="4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0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40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  <m:t>𝒙</m:t>
                              </m:r>
                            </m:e>
                          </m:acc>
                        </m:e>
                      </m:d>
                      <m:r>
                        <a:rPr lang="en-US" sz="4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4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</m:ctrlPr>
                        </m:naryPr>
                        <m:sub>
                          <m:r>
                            <a:rPr lang="en-US" sz="4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𝒒</m:t>
                          </m:r>
                          <m:r>
                            <a:rPr lang="en-US" sz="4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=</m:t>
                          </m:r>
                          <m:r>
                            <a:rPr lang="en-US" sz="4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𝟎</m:t>
                          </m:r>
                        </m:sub>
                        <m:sup>
                          <m:r>
                            <a:rPr lang="en-US" sz="4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𝟐</m:t>
                          </m:r>
                          <m:r>
                            <a:rPr lang="en-US" sz="4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𝒏</m:t>
                          </m:r>
                        </m:sup>
                        <m:e>
                          <m:r>
                            <a:rPr lang="it-IT" sz="4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 </m:t>
                          </m:r>
                          <m:r>
                            <a:rPr lang="en-US" sz="4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4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4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  <m:t>𝝌</m:t>
                              </m:r>
                            </m:e>
                            <m:sub>
                              <m:r>
                                <a:rPr lang="en-US" sz="4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  <m:t>𝒒</m:t>
                              </m:r>
                              <m:r>
                                <a:rPr lang="en-US" sz="4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it-IT" sz="4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40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4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Noto Sans" panose="020B0502040504020204" pitchFamily="34" charset="0"/>
                                      <a:cs typeface="Noto Sans" panose="020B0502040504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4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Noto Sans" panose="020B0502040504020204" pitchFamily="34" charset="0"/>
                                      <a:cs typeface="Noto Sans" panose="020B0502040504020204" pitchFamily="34" charset="0"/>
                                    </a:rPr>
                                    <m:t>𝒑</m:t>
                                  </m:r>
                                  <m:r>
                                    <a:rPr lang="en-US" sz="4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Noto Sans" panose="020B0502040504020204" pitchFamily="34" charset="0"/>
                                      <a:cs typeface="Noto Sans" panose="020B0502040504020204" pitchFamily="34" charset="0"/>
                                    </a:rPr>
                                    <m:t>=</m:t>
                                  </m:r>
                                  <m:r>
                                    <a:rPr lang="en-US" sz="4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Noto Sans" panose="020B0502040504020204" pitchFamily="34" charset="0"/>
                                      <a:cs typeface="Noto Sans" panose="020B0502040504020204" pitchFamily="34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4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Noto Sans" panose="020B0502040504020204" pitchFamily="34" charset="0"/>
                                      <a:cs typeface="Noto Sans" panose="020B0502040504020204" pitchFamily="34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en-US" sz="40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Noto Sans" panose="020B0502040504020204" pitchFamily="34" charset="0"/>
                                      <a:cs typeface="Noto Sans" panose="020B0502040504020204" pitchFamily="34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4000" b="1" i="1" dirty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Noto Sans" panose="020B0502040504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000" b="1" i="1" dirty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Noto Sans" panose="020B0502040504020204" pitchFamily="34" charset="0"/>
                                        </a:rPr>
                                        <m:t>𝝍</m:t>
                                      </m:r>
                                    </m:e>
                                    <m:sub>
                                      <m:r>
                                        <a:rPr lang="en-US" sz="4000" b="1" i="1" dirty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Noto Sans" panose="020B0502040504020204" pitchFamily="34" charset="0"/>
                                        </a:rPr>
                                        <m:t>𝒑</m:t>
                                      </m:r>
                                      <m:r>
                                        <a:rPr lang="en-US" sz="4000" b="1" i="1" dirty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Noto Sans" panose="020B0502040504020204" pitchFamily="34" charset="0"/>
                                        </a:rPr>
                                        <m:t>,</m:t>
                                      </m:r>
                                      <m:r>
                                        <a:rPr lang="en-US" sz="4000" b="1" i="1" dirty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Noto Sans" panose="020B0502040504020204" pitchFamily="34" charset="0"/>
                                        </a:rPr>
                                        <m:t>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4000" b="1" i="1" dirty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Noto Sans" panose="020B0502040504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4000" b="1" i="1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Noto Sans" panose="020B0502040504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4000" b="1" i="1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Noto Sans" panose="020B0502040504020204" pitchFamily="34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4000" b="1" i="1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Noto Sans" panose="020B0502040504020204" pitchFamily="34" charset="0"/>
                                            </a:rPr>
                                            <m:t>𝒑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nary>
                      <m:r>
                        <a:rPr lang="en-US" sz="4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 </m:t>
                      </m:r>
                    </m:oMath>
                  </m:oMathPara>
                </a14:m>
                <a:endParaRPr lang="en-US" sz="4000" b="1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2033CB21-7F32-3F54-BF49-63125348C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2836995"/>
                <a:ext cx="12463916" cy="1906102"/>
              </a:xfrm>
              <a:prstGeom prst="rect">
                <a:avLst/>
              </a:prstGeom>
              <a:blipFill>
                <a:blip r:embed="rId3"/>
                <a:stretch>
                  <a:fillRect t="-12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olo 1">
            <a:extLst>
              <a:ext uri="{FF2B5EF4-FFF2-40B4-BE49-F238E27FC236}">
                <a16:creationId xmlns:a16="http://schemas.microsoft.com/office/drawing/2014/main" id="{98730641-FA49-2E8F-8F93-0822C8B99B06}"/>
              </a:ext>
            </a:extLst>
          </p:cNvPr>
          <p:cNvSpPr txBox="1">
            <a:spLocks/>
          </p:cNvSpPr>
          <p:nvPr/>
        </p:nvSpPr>
        <p:spPr>
          <a:xfrm>
            <a:off x="1" y="415456"/>
            <a:ext cx="12192000" cy="793637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 hangingPunct="0"/>
            <a:r>
              <a:rPr kumimoji="0" lang="en-US" sz="440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Franklin Gothic Demi"/>
                <a:ea typeface="+mj-ea"/>
                <a:cs typeface="+mj-cs"/>
              </a:rPr>
              <a:t>The Kolmogorov-Arnold Theorem in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B12EF153-8DF9-51BA-1F79-CEA51D3BF427}"/>
                  </a:ext>
                </a:extLst>
              </p:cNvPr>
              <p:cNvSpPr txBox="1"/>
              <p:nvPr/>
            </p:nvSpPr>
            <p:spPr>
              <a:xfrm>
                <a:off x="429768" y="1339981"/>
                <a:ext cx="11332464" cy="747872"/>
              </a:xfrm>
              <a:prstGeom prst="rect">
                <a:avLst/>
              </a:prstGeom>
            </p:spPr>
            <p:txBody>
              <a:bodyPr vert="horz" lIns="91440" tIns="45720" rIns="91440" bIns="45720" rtlCol="0" anchorCtr="0" compatLnSpc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22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Every multivariate continuous fun </a:t>
                </a:r>
                <a14:m>
                  <m:oMath xmlns:m="http://schemas.openxmlformats.org/officeDocument/2006/math">
                    <m:r>
                      <a:rPr lang="it-IT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Noto Sans" panose="020B0502040504020204" pitchFamily="34" charset="0"/>
                        <a:cs typeface="Noto Sans" panose="020B0502040504020204" pitchFamily="34" charset="0"/>
                      </a:rPr>
                      <m:t>𝑓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Noto Sans" panose="020B0502040504020204" pitchFamily="34" charset="0"/>
                        <a:cs typeface="Noto Sans" panose="020B0502040504020204" pitchFamily="34" charset="0"/>
                      </a:rPr>
                      <m:t>:</m:t>
                    </m:r>
                    <m:sSup>
                      <m:sSupPr>
                        <m:ctrlP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Noto Sans" panose="020B0502040504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Noto Sans" panose="020B0502040504020204" pitchFamily="34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Noto Sans" panose="020B0502040504020204" pitchFamily="34" charset="0"/>
                      </a:rPr>
                      <m:t>→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Noto Sans" panose="020B0502040504020204" pitchFamily="34" charset="0"/>
                      </a:rPr>
                      <m:t>ℝ</m:t>
                    </m:r>
                  </m:oMath>
                </a14:m>
                <a:r>
                  <a:rPr lang="en-US" sz="2200" i="1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, </a:t>
                </a:r>
                <a:r>
                  <a:rPr lang="en-US" sz="22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Noto Sans" panose="020B0502040504020204" pitchFamily="34" charset="0"/>
                        <a:cs typeface="Noto Sans" panose="020B0502040504020204" pitchFamily="34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Noto Sans" panose="020B0502040504020204" pitchFamily="34" charset="0"/>
                        <a:cs typeface="Noto Sans" panose="020B0502040504020204" pitchFamily="34" charset="0"/>
                      </a:rPr>
                      <m:t>≥2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, can be written as: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B12EF153-8DF9-51BA-1F79-CEA51D3BF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" y="1339981"/>
                <a:ext cx="11332464" cy="747872"/>
              </a:xfrm>
              <a:prstGeom prst="rect">
                <a:avLst/>
              </a:prstGeom>
              <a:blipFill>
                <a:blip r:embed="rId6"/>
                <a:stretch>
                  <a:fillRect l="-914" t="-737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D48B568-E60F-4CF4-B27A-0117ED975757}"/>
              </a:ext>
            </a:extLst>
          </p:cNvPr>
          <p:cNvSpPr txBox="1"/>
          <p:nvPr/>
        </p:nvSpPr>
        <p:spPr>
          <a:xfrm>
            <a:off x="7213321" y="4979773"/>
            <a:ext cx="2296439" cy="574942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00B0F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Inner funs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5968CD6-4224-38F1-FBE3-25CC16CF5F92}"/>
              </a:ext>
            </a:extLst>
          </p:cNvPr>
          <p:cNvSpPr txBox="1"/>
          <p:nvPr/>
        </p:nvSpPr>
        <p:spPr>
          <a:xfrm>
            <a:off x="4101234" y="4979773"/>
            <a:ext cx="2993215" cy="574942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FF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Outer funs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CF71F16-919D-5CE3-7FB9-5B53C83CD533}"/>
              </a:ext>
            </a:extLst>
          </p:cNvPr>
          <p:cNvSpPr txBox="1"/>
          <p:nvPr/>
        </p:nvSpPr>
        <p:spPr>
          <a:xfrm>
            <a:off x="467679" y="5922051"/>
            <a:ext cx="11332464" cy="574942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…namely as </a:t>
            </a:r>
            <a:r>
              <a:rPr lang="en-US" sz="24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 sum of composition of a finite number of </a:t>
            </a:r>
            <a:r>
              <a:rPr lang="en-US" sz="2400" b="1" i="1" dirty="0">
                <a:solidFill>
                  <a:schemeClr val="accent4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univariate</a:t>
            </a:r>
            <a:r>
              <a:rPr lang="en-US" sz="24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functions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849E064E-7B20-AC27-925E-E28175542B38}"/>
              </a:ext>
            </a:extLst>
          </p:cNvPr>
          <p:cNvSpPr/>
          <p:nvPr/>
        </p:nvSpPr>
        <p:spPr>
          <a:xfrm>
            <a:off x="2258570" y="2711357"/>
            <a:ext cx="7674410" cy="2191226"/>
          </a:xfrm>
          <a:prstGeom prst="rect">
            <a:avLst/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34DADF77-D6D4-77B2-05B9-931FFAEA3A36}"/>
              </a:ext>
            </a:extLst>
          </p:cNvPr>
          <p:cNvSpPr/>
          <p:nvPr/>
        </p:nvSpPr>
        <p:spPr>
          <a:xfrm>
            <a:off x="7296441" y="2711357"/>
            <a:ext cx="2149311" cy="2191226"/>
          </a:xfrm>
          <a:prstGeom prst="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FBB47EB1-D4DE-4D4E-E438-C1BC7B7F9D44}"/>
              </a:ext>
            </a:extLst>
          </p:cNvPr>
          <p:cNvSpPr/>
          <p:nvPr/>
        </p:nvSpPr>
        <p:spPr>
          <a:xfrm>
            <a:off x="5188696" y="2710874"/>
            <a:ext cx="818293" cy="2191226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DD9E50BA-AFC8-3889-86E4-811FA854564E}"/>
                  </a:ext>
                </a:extLst>
              </p:cNvPr>
              <p:cNvSpPr txBox="1"/>
              <p:nvPr/>
            </p:nvSpPr>
            <p:spPr>
              <a:xfrm>
                <a:off x="5099682" y="2190475"/>
                <a:ext cx="9963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𝒏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DD9E50BA-AFC8-3889-86E4-811FA8545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682" y="2190475"/>
                <a:ext cx="99631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C2C01860-992E-C111-8502-65371847D2DE}"/>
                  </a:ext>
                </a:extLst>
              </p:cNvPr>
              <p:cNvSpPr txBox="1"/>
              <p:nvPr/>
            </p:nvSpPr>
            <p:spPr>
              <a:xfrm>
                <a:off x="7213321" y="2199512"/>
                <a:ext cx="2296439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𝟐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𝒏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it-IT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C2C01860-992E-C111-8502-65371847D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321" y="2199512"/>
                <a:ext cx="2296439" cy="47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magine 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FB77F244-A52E-24EA-7F33-856D4C4E97D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4" name="Immagine 3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7FDA7354-FF54-863C-D4C5-52520C271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07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631EB-1CC1-C020-6B2C-18BBE0CC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o 2">
            <a:extLst>
              <a:ext uri="{FF2B5EF4-FFF2-40B4-BE49-F238E27FC236}">
                <a16:creationId xmlns:a16="http://schemas.microsoft.com/office/drawing/2014/main" id="{6EF69AFA-7C0B-502E-7002-F5F553F4F20D}"/>
              </a:ext>
            </a:extLst>
          </p:cNvPr>
          <p:cNvGrpSpPr/>
          <p:nvPr/>
        </p:nvGrpSpPr>
        <p:grpSpPr>
          <a:xfrm>
            <a:off x="1" y="1018397"/>
            <a:ext cx="12463916" cy="2191226"/>
            <a:chOff x="1" y="2711357"/>
            <a:chExt cx="12463916" cy="21912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sellaDiTesto 22">
                  <a:extLst>
                    <a:ext uri="{FF2B5EF4-FFF2-40B4-BE49-F238E27FC236}">
                      <a16:creationId xmlns:a16="http://schemas.microsoft.com/office/drawing/2014/main" id="{2033CB21-7F32-3F54-BF49-63125348C15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" y="2836995"/>
                  <a:ext cx="12463916" cy="190610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Ctr="0" compatLnSpc="0">
                  <a:noAutofit/>
                </a:bodyPr>
                <a:lstStyle/>
                <a:p>
                  <a:pPr>
                    <a:lnSpc>
                      <a:spcPct val="9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Noto Sans" panose="020B0502040504020204" pitchFamily="34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0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Noto Sans" panose="020B0502040504020204" pitchFamily="34" charset="0"/>
                                    <a:cs typeface="Noto Sans" panose="020B0502040504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40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Noto Sans" panose="020B0502040504020204" pitchFamily="34" charset="0"/>
                                    <a:cs typeface="Noto Sans" panose="020B0502040504020204" pitchFamily="34" charset="0"/>
                                  </a:rPr>
                                  <m:t>𝒙</m:t>
                                </m:r>
                              </m:e>
                            </m:acc>
                          </m:e>
                        </m:d>
                        <m:r>
                          <a:rPr lang="en-US" sz="40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Noto Sans" panose="020B0502040504020204" pitchFamily="34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</m:ctrlPr>
                          </m:naryPr>
                          <m:sub>
                            <m: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  <m:t>𝒒</m:t>
                            </m:r>
                            <m: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  <m:t>=</m:t>
                            </m:r>
                            <m: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  <m:t>𝟎</m:t>
                            </m:r>
                          </m:sub>
                          <m:sup>
                            <m: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  <m:t>𝟐</m:t>
                            </m:r>
                            <m: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4000" b="1" i="1" dirty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Noto Sans" panose="020B0502040504020204" pitchFamily="34" charset="0"/>
                                    <a:cs typeface="Noto Sans" panose="020B0502040504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1" i="1" dirty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Noto Sans" panose="020B0502040504020204" pitchFamily="34" charset="0"/>
                                    <a:cs typeface="Noto Sans" panose="020B0502040504020204" pitchFamily="34" charset="0"/>
                                  </a:rPr>
                                  <m:t>𝝌</m:t>
                                </m:r>
                              </m:e>
                              <m:sub>
                                <m:r>
                                  <a:rPr lang="en-US" sz="4000" b="1" i="1" dirty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Noto Sans" panose="020B0502040504020204" pitchFamily="34" charset="0"/>
                                    <a:cs typeface="Noto Sans" panose="020B0502040504020204" pitchFamily="34" charset="0"/>
                                  </a:rPr>
                                  <m:t>𝒒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40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Noto Sans" panose="020B0502040504020204" pitchFamily="34" charset="0"/>
                                    <a:cs typeface="Noto Sans" panose="020B0502040504020204" pitchFamily="34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sz="4000" b="1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 charset="0"/>
                                        <a:cs typeface="Noto Sans" panose="020B050204050402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40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 charset="0"/>
                                        <a:cs typeface="Noto Sans" panose="020B0502040504020204" pitchFamily="34" charset="0"/>
                                      </a:rPr>
                                      <m:t>𝒑</m:t>
                                    </m:r>
                                    <m:r>
                                      <a:rPr lang="en-US" sz="40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 charset="0"/>
                                        <a:cs typeface="Noto Sans" panose="020B0502040504020204" pitchFamily="34" charset="0"/>
                                      </a:rPr>
                                      <m:t>=</m:t>
                                    </m:r>
                                    <m:r>
                                      <a:rPr lang="en-US" sz="40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 charset="0"/>
                                        <a:cs typeface="Noto Sans" panose="020B0502040504020204" pitchFamily="34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40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 charset="0"/>
                                        <a:cs typeface="Noto Sans" panose="020B0502040504020204" pitchFamily="34" charset="0"/>
                                      </a:rPr>
                                      <m:t>𝒏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4000" b="1" i="1" dirty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000" b="1" i="1" dirty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  <m:t>𝝍</m:t>
                                        </m:r>
                                      </m:e>
                                      <m:sub>
                                        <m:r>
                                          <a:rPr lang="en-US" sz="4000" b="1" i="1" dirty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  <m:t>𝒑</m:t>
                                        </m:r>
                                        <m:r>
                                          <a:rPr lang="en-US" sz="4000" b="1" i="1" dirty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4000" b="1" i="1" dirty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  <m:t>𝒒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4000" b="1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4000" b="1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Noto Sans" panose="020B0502040504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4000" b="1" i="1" dirty="0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Noto Sans" panose="020B0502040504020204" pitchFamily="34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sz="4000" b="1" i="1" dirty="0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Noto Sans" panose="020B0502040504020204" pitchFamily="34" charset="0"/>
                                              </a:rPr>
                                              <m:t>𝒑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</m:d>
                          </m:e>
                        </m:nary>
                        <m:r>
                          <a:rPr lang="en-US" sz="40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Noto Sans" panose="020B0502040504020204" pitchFamily="34" charset="0"/>
                          </a:rPr>
                          <m:t> </m:t>
                        </m:r>
                      </m:oMath>
                    </m:oMathPara>
                  </a14:m>
                  <a:endParaRPr lang="en-US" sz="4000" b="1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mc:Choice>
          <mc:Fallback xmlns="">
            <p:sp>
              <p:nvSpPr>
                <p:cNvPr id="23" name="CasellaDiTesto 22">
                  <a:extLst>
                    <a:ext uri="{FF2B5EF4-FFF2-40B4-BE49-F238E27FC236}">
                      <a16:creationId xmlns:a16="http://schemas.microsoft.com/office/drawing/2014/main" id="{2033CB21-7F32-3F54-BF49-63125348C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" y="2836995"/>
                  <a:ext cx="12463916" cy="1906102"/>
                </a:xfrm>
                <a:prstGeom prst="rect">
                  <a:avLst/>
                </a:prstGeom>
                <a:blipFill>
                  <a:blip r:embed="rId3"/>
                  <a:stretch>
                    <a:fillRect t="-1282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ttangolo 31">
              <a:extLst>
                <a:ext uri="{FF2B5EF4-FFF2-40B4-BE49-F238E27FC236}">
                  <a16:creationId xmlns:a16="http://schemas.microsoft.com/office/drawing/2014/main" id="{849E064E-7B20-AC27-925E-E28175542B38}"/>
                </a:ext>
              </a:extLst>
            </p:cNvPr>
            <p:cNvSpPr/>
            <p:nvPr/>
          </p:nvSpPr>
          <p:spPr>
            <a:xfrm>
              <a:off x="2044460" y="2711357"/>
              <a:ext cx="8102630" cy="2191226"/>
            </a:xfrm>
            <a:prstGeom prst="rect">
              <a:avLst/>
            </a:prstGeom>
            <a:noFill/>
            <a:ln w="1270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 dirty="0"/>
            </a:p>
          </p:txBody>
        </p:sp>
      </p:grpSp>
      <p:grpSp>
        <p:nvGrpSpPr>
          <p:cNvPr id="4" name="Gruppo 3">
            <a:extLst>
              <a:ext uri="{FF2B5EF4-FFF2-40B4-BE49-F238E27FC236}">
                <a16:creationId xmlns:a16="http://schemas.microsoft.com/office/drawing/2014/main" id="{2C87FF42-81ED-AE0C-979C-BD14A2C21433}"/>
              </a:ext>
            </a:extLst>
          </p:cNvPr>
          <p:cNvGrpSpPr/>
          <p:nvPr/>
        </p:nvGrpSpPr>
        <p:grpSpPr>
          <a:xfrm>
            <a:off x="0" y="4183893"/>
            <a:ext cx="12463916" cy="2191226"/>
            <a:chOff x="1" y="2711357"/>
            <a:chExt cx="12463916" cy="21912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asellaDiTesto 4">
                  <a:extLst>
                    <a:ext uri="{FF2B5EF4-FFF2-40B4-BE49-F238E27FC236}">
                      <a16:creationId xmlns:a16="http://schemas.microsoft.com/office/drawing/2014/main" id="{D13A96A2-04E3-28DD-1530-B1961C169A1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" y="2836995"/>
                  <a:ext cx="12463916" cy="190610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Ctr="0" compatLnSpc="0">
                  <a:noAutofit/>
                </a:bodyPr>
                <a:lstStyle/>
                <a:p>
                  <a:pPr>
                    <a:lnSpc>
                      <a:spcPct val="9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Noto Sans" panose="020B0502040504020204" pitchFamily="34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0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Noto Sans" panose="020B0502040504020204" pitchFamily="34" charset="0"/>
                                    <a:cs typeface="Noto Sans" panose="020B0502040504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40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Noto Sans" panose="020B0502040504020204" pitchFamily="34" charset="0"/>
                                    <a:cs typeface="Noto Sans" panose="020B0502040504020204" pitchFamily="34" charset="0"/>
                                  </a:rPr>
                                  <m:t>𝒙</m:t>
                                </m:r>
                              </m:e>
                            </m:acc>
                          </m:e>
                        </m:d>
                        <m:r>
                          <a:rPr lang="en-US" sz="40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Noto Sans" panose="020B0502040504020204" pitchFamily="34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</m:ctrlPr>
                          </m:naryPr>
                          <m:sub>
                            <m: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  <m:t>𝒒</m:t>
                            </m:r>
                            <m: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  <m:t>=</m:t>
                            </m:r>
                            <m: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  <m:t>𝟎</m:t>
                            </m:r>
                          </m:sub>
                          <m:sup>
                            <m: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40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Noto Sans" panose="020B0502040504020204" pitchFamily="34" charset="0"/>
                                    <a:cs typeface="Noto Sans" panose="020B0502040504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Noto Sans" panose="020B0502040504020204" pitchFamily="34" charset="0"/>
                                    <a:cs typeface="Noto Sans" panose="020B0502040504020204" pitchFamily="34" charset="0"/>
                                  </a:rPr>
                                  <m:t>𝝎</m:t>
                                </m:r>
                              </m:e>
                              <m:sub>
                                <m:r>
                                  <a:rPr lang="en-US" sz="40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Noto Sans" panose="020B0502040504020204" pitchFamily="34" charset="0"/>
                                    <a:cs typeface="Noto Sans" panose="020B0502040504020204" pitchFamily="34" charset="0"/>
                                  </a:rPr>
                                  <m:t>𝒒</m:t>
                                </m:r>
                              </m:sub>
                            </m:sSub>
                            <m:r>
                              <a:rPr lang="en-US" sz="4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  <m:t>×</m:t>
                            </m:r>
                            <m:r>
                              <a:rPr lang="en-US" sz="4000" b="1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Noto Sans" panose="020B0502040504020204" pitchFamily="34" charset="0"/>
                                <a:cs typeface="Noto Sans" panose="020B0502040504020204" pitchFamily="34" charset="0"/>
                              </a:rPr>
                              <m:t>𝝈</m:t>
                            </m:r>
                            <m:d>
                              <m:dPr>
                                <m:ctrlPr>
                                  <a:rPr lang="en-US" sz="40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Noto Sans" panose="020B0502040504020204" pitchFamily="34" charset="0"/>
                                    <a:cs typeface="Noto Sans" panose="020B0502040504020204" pitchFamily="34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sz="40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 charset="0"/>
                                        <a:cs typeface="Noto Sans" panose="020B050204050402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40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 charset="0"/>
                                        <a:cs typeface="Noto Sans" panose="020B0502040504020204" pitchFamily="34" charset="0"/>
                                      </a:rPr>
                                      <m:t>𝒑</m:t>
                                    </m:r>
                                    <m:r>
                                      <a:rPr lang="en-US" sz="40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 charset="0"/>
                                        <a:cs typeface="Noto Sans" panose="020B0502040504020204" pitchFamily="34" charset="0"/>
                                      </a:rPr>
                                      <m:t>=</m:t>
                                    </m:r>
                                    <m:r>
                                      <a:rPr lang="en-US" sz="40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 charset="0"/>
                                        <a:cs typeface="Noto Sans" panose="020B0502040504020204" pitchFamily="34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40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 charset="0"/>
                                        <a:cs typeface="Noto Sans" panose="020B0502040504020204" pitchFamily="34" charset="0"/>
                                      </a:rPr>
                                      <m:t>𝒏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4000" b="1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000" b="1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  <m:t>𝝎</m:t>
                                        </m:r>
                                      </m:e>
                                      <m:sub>
                                        <m:r>
                                          <a:rPr lang="en-US" sz="4000" b="1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  <m:t>𝒑</m:t>
                                        </m:r>
                                        <m:r>
                                          <a:rPr lang="en-US" sz="4000" b="1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4000" b="1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  <m:t>𝒒</m:t>
                                        </m:r>
                                      </m:sub>
                                    </m:sSub>
                                    <m:r>
                                      <a:rPr lang="en-US" sz="40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Noto Sans" panose="020B0502040504020204" pitchFamily="34" charset="0"/>
                                      </a:rPr>
                                      <m:t>×</m:t>
                                    </m:r>
                                    <m:sSub>
                                      <m:sSubPr>
                                        <m:ctrlPr>
                                          <a:rPr lang="en-US" sz="4000" b="1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000" b="1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4000" b="1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Noto Sans" panose="020B0502040504020204" pitchFamily="34" charset="0"/>
                                          </a:rPr>
                                          <m:t>𝒑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</m:nary>
                        <m:r>
                          <a:rPr lang="en-US" sz="40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Noto Sans" panose="020B0502040504020204" pitchFamily="34" charset="0"/>
                          </a:rPr>
                          <m:t> </m:t>
                        </m:r>
                      </m:oMath>
                    </m:oMathPara>
                  </a14:m>
                  <a:endParaRPr lang="en-US" sz="4000" b="1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mc:Choice>
          <mc:Fallback xmlns="">
            <p:sp>
              <p:nvSpPr>
                <p:cNvPr id="5" name="CasellaDiTesto 4">
                  <a:extLst>
                    <a:ext uri="{FF2B5EF4-FFF2-40B4-BE49-F238E27FC236}">
                      <a16:creationId xmlns:a16="http://schemas.microsoft.com/office/drawing/2014/main" id="{D13A96A2-04E3-28DD-1530-B1961C169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" y="2836995"/>
                  <a:ext cx="12463916" cy="1906102"/>
                </a:xfrm>
                <a:prstGeom prst="rect">
                  <a:avLst/>
                </a:prstGeom>
                <a:blipFill>
                  <a:blip r:embed="rId4"/>
                  <a:stretch>
                    <a:fillRect t="-1278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0F729D37-23A4-D777-27A2-5C1C1D85E790}"/>
                </a:ext>
              </a:extLst>
            </p:cNvPr>
            <p:cNvSpPr/>
            <p:nvPr/>
          </p:nvSpPr>
          <p:spPr>
            <a:xfrm>
              <a:off x="2044461" y="2711357"/>
              <a:ext cx="8102628" cy="2191226"/>
            </a:xfrm>
            <a:prstGeom prst="rect">
              <a:avLst/>
            </a:prstGeom>
            <a:noFill/>
            <a:ln w="1270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 dirty="0"/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69A47C1-B694-95E6-197D-2A8B914CC94D}"/>
              </a:ext>
            </a:extLst>
          </p:cNvPr>
          <p:cNvSpPr txBox="1"/>
          <p:nvPr/>
        </p:nvSpPr>
        <p:spPr>
          <a:xfrm>
            <a:off x="2044460" y="3575103"/>
            <a:ext cx="4459857" cy="574942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b="1" dirty="0">
                <a:solidFill>
                  <a:srgbClr val="FF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UAT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D3F7E78-7F13-004B-DEA8-CFF0EE7E424E}"/>
              </a:ext>
            </a:extLst>
          </p:cNvPr>
          <p:cNvSpPr txBox="1"/>
          <p:nvPr/>
        </p:nvSpPr>
        <p:spPr>
          <a:xfrm>
            <a:off x="2044459" y="426531"/>
            <a:ext cx="4459857" cy="574942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b="1" dirty="0">
                <a:solidFill>
                  <a:srgbClr val="FFC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KAT</a:t>
            </a:r>
          </a:p>
        </p:txBody>
      </p:sp>
      <p:pic>
        <p:nvPicPr>
          <p:cNvPr id="14" name="Immagine 1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F14C1202-A109-586D-DE38-638813A9BC6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2" name="Immagine 1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90956E2A-244C-D827-8A7D-6EAEE545D9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07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631EB-1CC1-C020-6B2C-18BBE0CC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1">
            <a:extLst>
              <a:ext uri="{FF2B5EF4-FFF2-40B4-BE49-F238E27FC236}">
                <a16:creationId xmlns:a16="http://schemas.microsoft.com/office/drawing/2014/main" id="{98730641-FA49-2E8F-8F93-0822C8B99B06}"/>
              </a:ext>
            </a:extLst>
          </p:cNvPr>
          <p:cNvSpPr txBox="1">
            <a:spLocks/>
          </p:cNvSpPr>
          <p:nvPr/>
        </p:nvSpPr>
        <p:spPr>
          <a:xfrm>
            <a:off x="1" y="415456"/>
            <a:ext cx="12192000" cy="793637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 hangingPunct="0"/>
            <a:r>
              <a:rPr kumimoji="0" lang="en-US" sz="440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Franklin Gothic Demi"/>
                <a:ea typeface="+mj-ea"/>
                <a:cs typeface="+mj-cs"/>
              </a:rPr>
              <a:t>The Kolmogorov-Arnold Networks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12EF153-8DF9-51BA-1F79-CEA51D3BF427}"/>
              </a:ext>
            </a:extLst>
          </p:cNvPr>
          <p:cNvSpPr txBox="1"/>
          <p:nvPr/>
        </p:nvSpPr>
        <p:spPr>
          <a:xfrm>
            <a:off x="429768" y="1339980"/>
            <a:ext cx="4037457" cy="5160167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KANs have learnable activation functions on edges, </a:t>
            </a:r>
            <a:r>
              <a:rPr lang="en-US" sz="24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parametrized as splines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Stacking up multiple layers</a:t>
            </a:r>
            <a:r>
              <a:rPr lang="en-US" sz="2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KANs manage to reduce the well-known "</a:t>
            </a:r>
            <a:r>
              <a:rPr lang="en-US" sz="2400" b="1" i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wild </a:t>
            </a:r>
            <a:r>
              <a:rPr lang="en-US" sz="2400" b="1" i="1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behaviour</a:t>
            </a:r>
            <a:r>
              <a:rPr lang="en-US" sz="2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" of the KAT functions.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" name="Immagine 2" descr="Immagine che contiene testo, linea, diagramma, Carattere&#10;&#10;Descrizione generata automaticamente">
            <a:extLst>
              <a:ext uri="{FF2B5EF4-FFF2-40B4-BE49-F238E27FC236}">
                <a16:creationId xmlns:a16="http://schemas.microsoft.com/office/drawing/2014/main" id="{AA546E88-0875-DCE4-FA8B-814DBA614A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18"/>
          <a:stretch/>
        </p:blipFill>
        <p:spPr>
          <a:xfrm>
            <a:off x="4596788" y="1209093"/>
            <a:ext cx="7165443" cy="5458407"/>
          </a:xfrm>
          <a:prstGeom prst="rect">
            <a:avLst/>
          </a:prstGeom>
        </p:spPr>
      </p:pic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B1CFC3B7-A986-E4FB-811B-E68248EBE3B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5" name="Immagine 4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3EDE01B4-60BA-3B11-5093-FFAD081963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86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631EB-1CC1-C020-6B2C-18BBE0CC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1">
            <a:extLst>
              <a:ext uri="{FF2B5EF4-FFF2-40B4-BE49-F238E27FC236}">
                <a16:creationId xmlns:a16="http://schemas.microsoft.com/office/drawing/2014/main" id="{98730641-FA49-2E8F-8F93-0822C8B99B06}"/>
              </a:ext>
            </a:extLst>
          </p:cNvPr>
          <p:cNvSpPr txBox="1">
            <a:spLocks/>
          </p:cNvSpPr>
          <p:nvPr/>
        </p:nvSpPr>
        <p:spPr>
          <a:xfrm>
            <a:off x="1" y="415456"/>
            <a:ext cx="12192000" cy="793637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400" dirty="0">
                <a:latin typeface="Franklin Gothic Demi"/>
              </a:rPr>
              <a:t>The high interpretability of KANs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12EF153-8DF9-51BA-1F79-CEA51D3BF427}"/>
              </a:ext>
            </a:extLst>
          </p:cNvPr>
          <p:cNvSpPr txBox="1"/>
          <p:nvPr/>
        </p:nvSpPr>
        <p:spPr>
          <a:xfrm>
            <a:off x="429768" y="1492398"/>
            <a:ext cx="11305032" cy="641220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After training, </a:t>
            </a:r>
            <a:r>
              <a:rPr lang="en-US" sz="24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edges can be easily pruned</a:t>
            </a:r>
            <a:r>
              <a:rPr lang="en-US" sz="2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using a significance threshold.</a:t>
            </a:r>
            <a:endParaRPr lang="en-US" sz="22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4" name="Immagine 3" descr="Immagine che contiene diagramma, origami, schizzo, linea&#10;&#10;Descrizione generata automaticamente">
            <a:extLst>
              <a:ext uri="{FF2B5EF4-FFF2-40B4-BE49-F238E27FC236}">
                <a16:creationId xmlns:a16="http://schemas.microsoft.com/office/drawing/2014/main" id="{33782801-95A0-1D08-0C48-96884290F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4" y="2490122"/>
            <a:ext cx="12193164" cy="3581400"/>
          </a:xfrm>
          <a:prstGeom prst="rect">
            <a:avLst/>
          </a:prstGeom>
          <a:ln w="76200">
            <a:noFill/>
          </a:ln>
        </p:spPr>
      </p:pic>
      <p:pic>
        <p:nvPicPr>
          <p:cNvPr id="5" name="Immagine 4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6F5453D-763B-3168-23C4-9DEADFF2EDA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3" name="Immagine 2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E347B321-5240-BA3C-5496-5D2ADBD879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53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7B1CFF0A-F832-5BD4-807B-930143095F39}"/>
              </a:ext>
            </a:extLst>
          </p:cNvPr>
          <p:cNvSpPr/>
          <p:nvPr/>
        </p:nvSpPr>
        <p:spPr>
          <a:xfrm>
            <a:off x="1" y="-25400"/>
            <a:ext cx="12191550" cy="6883399"/>
          </a:xfrm>
          <a:prstGeom prst="rect">
            <a:avLst/>
          </a:prstGeom>
          <a:solidFill>
            <a:srgbClr val="0E1A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C2A4B87E-B43A-DD9E-8D23-DFAB1B3319E1}"/>
              </a:ext>
            </a:extLst>
          </p:cNvPr>
          <p:cNvSpPr txBox="1">
            <a:spLocks/>
          </p:cNvSpPr>
          <p:nvPr/>
        </p:nvSpPr>
        <p:spPr>
          <a:xfrm>
            <a:off x="450" y="405040"/>
            <a:ext cx="12177773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latin typeface="Franklin Gothic Demi"/>
              </a:rPr>
              <a:t>The splines</a:t>
            </a:r>
            <a:endParaRPr lang="it-IT" dirty="0">
              <a:latin typeface="Franklin Gothic Demi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DFA3B13-B817-5AB8-6A27-97458C3760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928"/>
          <a:stretch/>
        </p:blipFill>
        <p:spPr>
          <a:xfrm>
            <a:off x="1856545" y="2247900"/>
            <a:ext cx="10317122" cy="4943741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D1E2998F-BCCC-5AC4-ECA9-2938AFC1D023}"/>
              </a:ext>
            </a:extLst>
          </p:cNvPr>
          <p:cNvSpPr/>
          <p:nvPr/>
        </p:nvSpPr>
        <p:spPr>
          <a:xfrm>
            <a:off x="6699584" y="2247900"/>
            <a:ext cx="415090" cy="1819274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20FF179B-0EDC-58AF-ED82-9AFB8BF08A3E}"/>
              </a:ext>
            </a:extLst>
          </p:cNvPr>
          <p:cNvCxnSpPr>
            <a:cxnSpLocks/>
          </p:cNvCxnSpPr>
          <p:nvPr/>
        </p:nvCxnSpPr>
        <p:spPr>
          <a:xfrm>
            <a:off x="6907769" y="4067174"/>
            <a:ext cx="0" cy="457805"/>
          </a:xfrm>
          <a:prstGeom prst="line">
            <a:avLst/>
          </a:prstGeom>
          <a:ln w="57150">
            <a:solidFill>
              <a:srgbClr val="00B0F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FEFF39B8-3687-029F-DF04-C3CCDD1174B1}"/>
              </a:ext>
            </a:extLst>
          </p:cNvPr>
          <p:cNvCxnSpPr>
            <a:cxnSpLocks/>
          </p:cNvCxnSpPr>
          <p:nvPr/>
        </p:nvCxnSpPr>
        <p:spPr>
          <a:xfrm>
            <a:off x="3286125" y="4524979"/>
            <a:ext cx="3650219" cy="0"/>
          </a:xfrm>
          <a:prstGeom prst="line">
            <a:avLst/>
          </a:prstGeom>
          <a:ln w="57150">
            <a:solidFill>
              <a:srgbClr val="00B0F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F149551-7D66-F089-67D4-DEA9674B5D40}"/>
              </a:ext>
            </a:extLst>
          </p:cNvPr>
          <p:cNvSpPr txBox="1"/>
          <p:nvPr/>
        </p:nvSpPr>
        <p:spPr>
          <a:xfrm>
            <a:off x="494748" y="4135121"/>
            <a:ext cx="2982377" cy="1199782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00B0F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coefficients are given by the Basis functions</a:t>
            </a:r>
            <a:endParaRPr lang="en-US" sz="2400" b="1" i="1" dirty="0">
              <a:solidFill>
                <a:srgbClr val="00B0F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004C8E6-7204-ABD1-7B94-5BDB858FF3F0}"/>
              </a:ext>
            </a:extLst>
          </p:cNvPr>
          <p:cNvSpPr txBox="1"/>
          <p:nvPr/>
        </p:nvSpPr>
        <p:spPr>
          <a:xfrm>
            <a:off x="488731" y="1249924"/>
            <a:ext cx="11190189" cy="2456742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Splines are curve generators</a:t>
            </a:r>
            <a:r>
              <a:rPr lang="en-US" sz="24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;</a:t>
            </a:r>
            <a:r>
              <a:rPr lang="en-US" sz="2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they take some control points and produce a curve that interpolates (or not) between them.</a:t>
            </a:r>
          </a:p>
        </p:txBody>
      </p:sp>
      <p:pic>
        <p:nvPicPr>
          <p:cNvPr id="19" name="Immagine 1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B933A339-67F1-FD67-6D6F-3CAF62C724A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8" name="Immagine 7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7033728-B379-5B8C-F198-9E21E420BE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98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7B1CFF0A-F832-5BD4-807B-930143095F39}"/>
              </a:ext>
            </a:extLst>
          </p:cNvPr>
          <p:cNvSpPr/>
          <p:nvPr/>
        </p:nvSpPr>
        <p:spPr>
          <a:xfrm>
            <a:off x="1" y="-25400"/>
            <a:ext cx="12191550" cy="6883399"/>
          </a:xfrm>
          <a:prstGeom prst="rect">
            <a:avLst/>
          </a:prstGeom>
          <a:solidFill>
            <a:srgbClr val="0E1A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C2A4B87E-B43A-DD9E-8D23-DFAB1B3319E1}"/>
              </a:ext>
            </a:extLst>
          </p:cNvPr>
          <p:cNvSpPr txBox="1">
            <a:spLocks/>
          </p:cNvSpPr>
          <p:nvPr/>
        </p:nvSpPr>
        <p:spPr>
          <a:xfrm>
            <a:off x="450" y="285248"/>
            <a:ext cx="12177773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>
                <a:latin typeface="Franklin Gothic Demi"/>
              </a:rPr>
              <a:t>The B-Splines</a:t>
            </a:r>
            <a:endParaRPr lang="it-IT">
              <a:latin typeface="Franklin Gothic Dem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6004C8E6-7204-ABD1-7B94-5BDB858FF3F0}"/>
                  </a:ext>
                </a:extLst>
              </p:cNvPr>
              <p:cNvSpPr txBox="1"/>
              <p:nvPr/>
            </p:nvSpPr>
            <p:spPr>
              <a:xfrm>
                <a:off x="488731" y="1071933"/>
                <a:ext cx="11190189" cy="1549157"/>
              </a:xfrm>
              <a:prstGeom prst="rect">
                <a:avLst/>
              </a:prstGeom>
            </p:spPr>
            <p:txBody>
              <a:bodyPr vert="horz" lIns="91440" tIns="45720" rIns="91440" bIns="45720" rtlCol="0" anchorCtr="0" compatLnSpc="0">
                <a:norm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24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When a B-Spline is convolved between the control points,</a:t>
                </a:r>
                <a:r>
                  <a:rPr lang="en-US" sz="2400" b="1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</a:t>
                </a:r>
                <a:r>
                  <a:rPr lang="en-US" sz="2400" b="1" dirty="0">
                    <a:solidFill>
                      <a:schemeClr val="bg1"/>
                    </a:solidFill>
                    <a:highlight>
                      <a:srgbClr val="1F4394"/>
                    </a:highlight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it generates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chemeClr val="bg1"/>
                            </a:solidFill>
                            <a:highlight>
                              <a:srgbClr val="1F4394"/>
                            </a:highlight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Noto Sans" panose="020B0502040504020204" pitchFamily="34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bg1"/>
                            </a:solidFill>
                            <a:highlight>
                              <a:srgbClr val="1F4394"/>
                            </a:highlight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Noto Sans" panose="020B0502040504020204" pitchFamily="34" charset="0"/>
                          </a:rPr>
                          <m:t>𝑪</m:t>
                        </m:r>
                      </m:e>
                      <m:sup>
                        <m:r>
                          <a:rPr lang="en-US" sz="2400" b="1" i="1">
                            <a:solidFill>
                              <a:schemeClr val="bg1"/>
                            </a:solidFill>
                            <a:highlight>
                              <a:srgbClr val="1F4394"/>
                            </a:highlight>
                            <a:latin typeface="Cambria Math" panose="02040503050406030204" pitchFamily="18" charset="0"/>
                            <a:ea typeface="Noto Sans" panose="020B0502040504020204" pitchFamily="34" charset="0"/>
                            <a:cs typeface="Noto Sans" panose="020B050204050402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solidFill>
                      <a:schemeClr val="bg1"/>
                    </a:solidFill>
                    <a:highlight>
                      <a:srgbClr val="1F4394"/>
                    </a:highlight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B-form spline</a:t>
                </a:r>
                <a:r>
                  <a:rPr lang="en-US" sz="24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.</a:t>
                </a:r>
                <a:endParaRPr lang="en-US" sz="2400" b="1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mc:Choice>
        <mc:Fallback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6004C8E6-7204-ABD1-7B94-5BDB858FF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31" y="1071933"/>
                <a:ext cx="11190189" cy="1549157"/>
              </a:xfrm>
              <a:prstGeom prst="rect">
                <a:avLst/>
              </a:prstGeom>
              <a:blipFill>
                <a:blip r:embed="rId2"/>
                <a:stretch>
                  <a:fillRect l="-1035" t="-62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magine 8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56622F21-A36D-8D28-94D0-04C80931A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48" y="2259338"/>
            <a:ext cx="10098504" cy="4339423"/>
          </a:xfrm>
          <a:prstGeom prst="rect">
            <a:avLst/>
          </a:prstGeom>
        </p:spPr>
      </p:pic>
      <p:pic>
        <p:nvPicPr>
          <p:cNvPr id="2" name="Immagine 1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D048B7DB-A3C1-AEE3-78EC-4949F950E3D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3" name="Immagine 2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882F8FA5-4EE5-8D0C-5D6F-E2170A55D0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33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7B1CFF0A-F832-5BD4-807B-930143095F39}"/>
              </a:ext>
            </a:extLst>
          </p:cNvPr>
          <p:cNvSpPr/>
          <p:nvPr/>
        </p:nvSpPr>
        <p:spPr>
          <a:xfrm>
            <a:off x="1" y="-25400"/>
            <a:ext cx="12191550" cy="68833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C2A4B87E-B43A-DD9E-8D23-DFAB1B3319E1}"/>
              </a:ext>
            </a:extLst>
          </p:cNvPr>
          <p:cNvSpPr txBox="1">
            <a:spLocks/>
          </p:cNvSpPr>
          <p:nvPr/>
        </p:nvSpPr>
        <p:spPr>
          <a:xfrm>
            <a:off x="450" y="285248"/>
            <a:ext cx="12177773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>
                <a:latin typeface="Franklin Gothic Demi"/>
              </a:rPr>
              <a:t>KANs choose B-form splines</a:t>
            </a:r>
            <a:endParaRPr lang="it-IT">
              <a:latin typeface="Franklin Gothic Demi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004C8E6-7204-ABD1-7B94-5BDB858FF3F0}"/>
              </a:ext>
            </a:extLst>
          </p:cNvPr>
          <p:cNvSpPr txBox="1"/>
          <p:nvPr/>
        </p:nvSpPr>
        <p:spPr>
          <a:xfrm>
            <a:off x="488731" y="1024636"/>
            <a:ext cx="11190189" cy="1367381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use of B-splines is supported by the findings of </a:t>
            </a:r>
            <a:r>
              <a:rPr lang="en-US" sz="2400" i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Carl de Boor</a:t>
            </a:r>
            <a:r>
              <a:rPr lang="en-US" sz="2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which proved that the </a:t>
            </a:r>
            <a:r>
              <a:rPr lang="en-US" sz="24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KAT remains a valid approximation</a:t>
            </a:r>
            <a:r>
              <a:rPr lang="en-US" sz="2400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when B-form splines are employed.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B27A61F-95B8-738C-38E9-C4545B324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149" y="3734902"/>
            <a:ext cx="10209254" cy="2005696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93155E76-14FC-450B-CBE8-017662E2D59B}"/>
              </a:ext>
            </a:extLst>
          </p:cNvPr>
          <p:cNvSpPr/>
          <p:nvPr/>
        </p:nvSpPr>
        <p:spPr>
          <a:xfrm>
            <a:off x="488732" y="3642138"/>
            <a:ext cx="11214086" cy="2191226"/>
          </a:xfrm>
          <a:prstGeom prst="rect">
            <a:avLst/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152A9E0-2A21-EE62-CF06-DFAFE041C1BA}"/>
              </a:ext>
            </a:extLst>
          </p:cNvPr>
          <p:cNvSpPr/>
          <p:nvPr/>
        </p:nvSpPr>
        <p:spPr>
          <a:xfrm>
            <a:off x="3087757" y="3642138"/>
            <a:ext cx="2107095" cy="2191226"/>
          </a:xfrm>
          <a:prstGeom prst="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49E6AC3-2C3B-3588-6BC0-30BD25ECF8EA}"/>
              </a:ext>
            </a:extLst>
          </p:cNvPr>
          <p:cNvSpPr/>
          <p:nvPr/>
        </p:nvSpPr>
        <p:spPr>
          <a:xfrm>
            <a:off x="5857460" y="3642138"/>
            <a:ext cx="4194313" cy="2191226"/>
          </a:xfrm>
          <a:prstGeom prst="rect">
            <a:avLst/>
          </a:prstGeom>
          <a:noFill/>
          <a:ln w="127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FC23D63-FEFB-7F38-F24E-5791059A8C29}"/>
              </a:ext>
            </a:extLst>
          </p:cNvPr>
          <p:cNvSpPr txBox="1"/>
          <p:nvPr/>
        </p:nvSpPr>
        <p:spPr>
          <a:xfrm>
            <a:off x="2888975" y="2293731"/>
            <a:ext cx="2504658" cy="1298712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00B0F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</a:t>
            </a:r>
            <a:r>
              <a:rPr lang="en-US" sz="2400" b="1" i="1" dirty="0">
                <a:solidFill>
                  <a:srgbClr val="00B0F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residual</a:t>
            </a:r>
            <a:r>
              <a:rPr lang="en-US" sz="2400" b="1" dirty="0">
                <a:solidFill>
                  <a:srgbClr val="00B0F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component, </a:t>
            </a:r>
            <a:r>
              <a:rPr lang="en-US" sz="2400" b="1" dirty="0" err="1">
                <a:solidFill>
                  <a:srgbClr val="00B0F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SiLU</a:t>
            </a:r>
            <a:r>
              <a:rPr lang="en-US" sz="2400" b="1" dirty="0">
                <a:solidFill>
                  <a:srgbClr val="00B0F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by default</a:t>
            </a:r>
            <a:endParaRPr lang="en-US" sz="2400" b="1" i="1" dirty="0">
              <a:solidFill>
                <a:srgbClr val="00B0F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073A98E0-FD8C-8796-5552-5A7C3051CD92}"/>
                  </a:ext>
                </a:extLst>
              </p:cNvPr>
              <p:cNvSpPr txBox="1"/>
              <p:nvPr/>
            </p:nvSpPr>
            <p:spPr>
              <a:xfrm>
                <a:off x="5857459" y="2287105"/>
                <a:ext cx="4194313" cy="1298712"/>
              </a:xfrm>
              <a:prstGeom prst="rect">
                <a:avLst/>
              </a:prstGeom>
            </p:spPr>
            <p:txBody>
              <a:bodyPr vert="horz" lIns="91440" tIns="45720" rIns="91440" bIns="45720" rtlCol="0" anchorCtr="0" compatLnSpc="0"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2400" b="1" dirty="0">
                    <a:solidFill>
                      <a:srgbClr val="92D05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The B-form spline, defined by its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Noto Sans" panose="020B0502040504020204" pitchFamily="34" charset="0"/>
                        <a:cs typeface="Noto Sans" panose="020B0502040504020204" pitchFamily="34" charset="0"/>
                      </a:rPr>
                      <m:t>𝑮</m:t>
                    </m:r>
                    <m:r>
                      <a:rPr lang="en-US" sz="2400" b="1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Noto Sans" panose="020B0502040504020204" pitchFamily="34" charset="0"/>
                        <a:cs typeface="Noto Sans" panose="020B0502040504020204" pitchFamily="34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Noto Sans" panose="020B0502040504020204" pitchFamily="34" charset="0"/>
                        <a:cs typeface="Noto Sans" panose="020B0502040504020204" pitchFamily="34" charset="0"/>
                      </a:rPr>
                      <m:t>𝒌</m:t>
                    </m:r>
                  </m:oMath>
                </a14:m>
                <a:r>
                  <a:rPr lang="en-US" sz="2400" b="1" dirty="0">
                    <a:solidFill>
                      <a:srgbClr val="92D05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control points</a:t>
                </a:r>
                <a:endParaRPr lang="en-US" sz="2400" b="1" i="1" dirty="0">
                  <a:solidFill>
                    <a:srgbClr val="92D05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073A98E0-FD8C-8796-5552-5A7C3051C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459" y="2287105"/>
                <a:ext cx="4194313" cy="1298712"/>
              </a:xfrm>
              <a:prstGeom prst="rect">
                <a:avLst/>
              </a:prstGeom>
              <a:blipFill>
                <a:blip r:embed="rId4"/>
                <a:stretch>
                  <a:fillRect t="-7512" b="-610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magine 1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0278D21A-7D35-B66B-3945-24A08B905A6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3" name="Immagine 2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BE84B698-70AC-9253-3CAC-52E54AC40A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C2A4B87E-B43A-DD9E-8D23-DFAB1B3319E1}"/>
              </a:ext>
            </a:extLst>
          </p:cNvPr>
          <p:cNvSpPr txBox="1">
            <a:spLocks/>
          </p:cNvSpPr>
          <p:nvPr/>
        </p:nvSpPr>
        <p:spPr>
          <a:xfrm>
            <a:off x="450" y="285248"/>
            <a:ext cx="12177773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err="1">
                <a:latin typeface="Franklin Gothic Demi"/>
              </a:rPr>
              <a:t>MultKANs</a:t>
            </a:r>
            <a:r>
              <a:rPr lang="en-US">
                <a:latin typeface="Franklin Gothic Demi"/>
              </a:rPr>
              <a:t> as a generalization of KANs</a:t>
            </a:r>
          </a:p>
        </p:txBody>
      </p:sp>
      <p:pic>
        <p:nvPicPr>
          <p:cNvPr id="12" name="Immagine 11" descr="Immagine che contiene testo, diagramma, linea&#10;&#10;Descrizione generata automaticamente">
            <a:extLst>
              <a:ext uri="{FF2B5EF4-FFF2-40B4-BE49-F238E27FC236}">
                <a16:creationId xmlns:a16="http://schemas.microsoft.com/office/drawing/2014/main" id="{2F2157CB-4B5A-B193-5B7A-492BC7453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31" y="3313995"/>
            <a:ext cx="6428904" cy="337254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C0D0362-64DC-AB31-5740-AF0A347DCF45}"/>
              </a:ext>
            </a:extLst>
          </p:cNvPr>
          <p:cNvSpPr txBox="1"/>
          <p:nvPr/>
        </p:nvSpPr>
        <p:spPr>
          <a:xfrm>
            <a:off x="488731" y="1077795"/>
            <a:ext cx="11214538" cy="1473397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On 19 August 2024</a:t>
            </a:r>
            <a:r>
              <a:rPr lang="en-US" sz="20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three and a half months after the introduction of KAN, the same authors published a paper on a generalization of KAN called </a:t>
            </a:r>
            <a:r>
              <a:rPr lang="en-US" sz="2000" b="1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MultKAN</a:t>
            </a:r>
            <a:r>
              <a:rPr lang="en-US" sz="20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342900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main new feature introduced is the </a:t>
            </a:r>
            <a:r>
              <a:rPr lang="en-US" sz="20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multiplicative node</a:t>
            </a:r>
            <a:r>
              <a:rPr lang="en-US" sz="20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D84219F-D042-2BF9-4BF0-E6E9D07C9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66" y="2272252"/>
            <a:ext cx="8156833" cy="885069"/>
          </a:xfrm>
          <a:prstGeom prst="rect">
            <a:avLst/>
          </a:prstGeom>
          <a:ln w="76200">
            <a:solidFill>
              <a:schemeClr val="accent2"/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F7E7734E-36E8-3727-9BF7-237AEF4E0A07}"/>
              </a:ext>
            </a:extLst>
          </p:cNvPr>
          <p:cNvSpPr txBox="1"/>
          <p:nvPr/>
        </p:nvSpPr>
        <p:spPr>
          <a:xfrm>
            <a:off x="7073012" y="3620485"/>
            <a:ext cx="4630257" cy="3138936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Auxiliary variables </a:t>
            </a:r>
            <a:r>
              <a:rPr lang="en-US" sz="20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can be added to reduce the KAN architecture to a more interpretable one.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Sparse initialization </a:t>
            </a:r>
            <a:r>
              <a:rPr lang="en-US" sz="20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is used to mimic the sparse connections of common formulae.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Hypothesis Testing</a:t>
            </a:r>
            <a:r>
              <a:rPr lang="en-US" sz="2000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is easy to use. </a:t>
            </a:r>
            <a:r>
              <a:rPr lang="en-US" sz="20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MultKAN</a:t>
            </a:r>
            <a:r>
              <a:rPr lang="en-US" sz="20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automatically saves checkpoints for rewinding.</a:t>
            </a: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BA4A73AE-1748-A7CD-990B-813EFBC0C1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0763" y="1936543"/>
            <a:ext cx="337006" cy="329849"/>
          </a:xfrm>
          <a:prstGeom prst="rect">
            <a:avLst/>
          </a:prstGeom>
        </p:spPr>
      </p:pic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FD4543F9-75BE-A29B-E82E-5F81C5CB24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80763" y="2332093"/>
            <a:ext cx="412777" cy="329849"/>
          </a:xfrm>
          <a:prstGeom prst="rect">
            <a:avLst/>
          </a:prstGeom>
        </p:spPr>
      </p:pic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D9D49F09-7E4C-995C-95BE-45BD6AA710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3771" y="2747521"/>
            <a:ext cx="224194" cy="205869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4035EA7-1E52-AD7E-C2FC-0FFD57065E4F}"/>
              </a:ext>
            </a:extLst>
          </p:cNvPr>
          <p:cNvSpPr txBox="1"/>
          <p:nvPr/>
        </p:nvSpPr>
        <p:spPr>
          <a:xfrm>
            <a:off x="9417769" y="1890440"/>
            <a:ext cx="2457683" cy="422054"/>
          </a:xfrm>
          <a:prstGeom prst="rect">
            <a:avLst/>
          </a:prstGeom>
        </p:spPr>
        <p:txBody>
          <a:bodyPr vert="horz" lIns="91440" tIns="45720" rIns="91440" bIns="45720" rtlCol="0" anchor="ctr" anchorCtr="0" compatLnSpc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addition</a:t>
            </a:r>
            <a:r>
              <a:rPr lang="en-US" sz="16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nodes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8D54CBC-FDB8-99AF-4FBE-867EBD1C59CF}"/>
              </a:ext>
            </a:extLst>
          </p:cNvPr>
          <p:cNvSpPr txBox="1"/>
          <p:nvPr/>
        </p:nvSpPr>
        <p:spPr>
          <a:xfrm>
            <a:off x="9417769" y="2267398"/>
            <a:ext cx="2919910" cy="422054"/>
          </a:xfrm>
          <a:prstGeom prst="rect">
            <a:avLst/>
          </a:prstGeom>
        </p:spPr>
        <p:txBody>
          <a:bodyPr vert="horz" lIns="91440" tIns="45720" rIns="91440" bIns="45720" rtlCol="0" anchor="ctr" anchorCtr="0" compatLnSpc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multiplication</a:t>
            </a:r>
            <a:r>
              <a:rPr lang="en-US" sz="16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nodes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BFF0CD8-A2C2-A84D-5BAE-A0C9F3FBAE29}"/>
              </a:ext>
            </a:extLst>
          </p:cNvPr>
          <p:cNvSpPr txBox="1"/>
          <p:nvPr/>
        </p:nvSpPr>
        <p:spPr>
          <a:xfrm>
            <a:off x="9417769" y="2657675"/>
            <a:ext cx="2919910" cy="730148"/>
          </a:xfrm>
          <a:prstGeom prst="rect">
            <a:avLst/>
          </a:prstGeom>
        </p:spPr>
        <p:txBody>
          <a:bodyPr vert="horz" lIns="91440" tIns="45720" rIns="91440" bIns="45720" rtlCol="0" anchor="ctr" anchorCtr="0" compatLnSpc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element-wise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multiplication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BFBCC127-C7E1-5658-454F-4297DFB057EE}"/>
              </a:ext>
            </a:extLst>
          </p:cNvPr>
          <p:cNvSpPr/>
          <p:nvPr/>
        </p:nvSpPr>
        <p:spPr>
          <a:xfrm>
            <a:off x="8945217" y="1863936"/>
            <a:ext cx="2758053" cy="1522881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878499A4-9812-D675-D44E-3E7135E1E4F9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6" name="Immagine 5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FB772227-05C9-415E-675F-5F83F2BEB3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80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C2A4B87E-B43A-DD9E-8D23-DFAB1B3319E1}"/>
              </a:ext>
            </a:extLst>
          </p:cNvPr>
          <p:cNvSpPr txBox="1">
            <a:spLocks/>
          </p:cNvSpPr>
          <p:nvPr/>
        </p:nvSpPr>
        <p:spPr>
          <a:xfrm>
            <a:off x="450" y="285248"/>
            <a:ext cx="12177773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latin typeface="Franklin Gothic Demi"/>
              </a:rPr>
              <a:t>Can KANs help us?</a:t>
            </a:r>
            <a:endParaRPr lang="it-IT" dirty="0">
              <a:latin typeface="Franklin Gothic Dem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5F6B530-8AFE-AAE6-10EA-0AAED5A49743}"/>
                  </a:ext>
                </a:extLst>
              </p:cNvPr>
              <p:cNvSpPr txBox="1"/>
              <p:nvPr/>
            </p:nvSpPr>
            <p:spPr>
              <a:xfrm>
                <a:off x="423104" y="1450817"/>
                <a:ext cx="11332464" cy="4841744"/>
              </a:xfrm>
              <a:prstGeom prst="rect">
                <a:avLst/>
              </a:prstGeom>
            </p:spPr>
            <p:txBody>
              <a:bodyPr vert="horz" lIns="91440" tIns="45720" rIns="91440" bIns="45720" rtlCol="0" anchorCtr="0" compatLnSpc="0">
                <a:noAutofit/>
              </a:bodyPr>
              <a:lstStyle/>
              <a:p>
                <a:pPr marL="342900" indent="-342900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lang="en-US" sz="28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KANs‘ </a:t>
                </a:r>
                <a:r>
                  <a:rPr lang="en-US" sz="2800" b="1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“</a:t>
                </a:r>
                <a:r>
                  <a:rPr lang="en-US" sz="2800" b="1" i="1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neuronal unit</a:t>
                </a:r>
                <a:r>
                  <a:rPr lang="en-US" sz="2800" b="1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” is </a:t>
                </a:r>
                <a:r>
                  <a:rPr lang="en-US" sz="2800" b="1" dirty="0">
                    <a:solidFill>
                      <a:schemeClr val="bg1"/>
                    </a:solidFill>
                    <a:highlight>
                      <a:srgbClr val="1F4394"/>
                    </a:highlight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more expressive than an MLP neuron</a:t>
                </a:r>
                <a:r>
                  <a:rPr lang="en-US" sz="28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Noto Sans" panose="020B0502040504020204" pitchFamily="34" charset="0"/>
                        <a:cs typeface="Noto Sans" panose="020B0502040504020204" pitchFamily="34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</a:t>
                </a:r>
                <a:r>
                  <a:rPr lang="en-US" sz="2800" b="1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more interpretable</a:t>
                </a:r>
                <a:r>
                  <a:rPr lang="en-US" sz="28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.</a:t>
                </a:r>
              </a:p>
              <a:p>
                <a:pPr marL="342900" indent="-342900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endParaRPr lang="en-US" sz="2800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  <a:p>
                <a:pPr marL="342900" indent="-342900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lang="en-US" sz="28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Due to the </a:t>
                </a:r>
                <a:r>
                  <a:rPr lang="en-US" sz="2800" i="1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locality</a:t>
                </a:r>
                <a:r>
                  <a:rPr lang="en-US" sz="28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property of the splines, </a:t>
                </a:r>
                <a:r>
                  <a:rPr lang="en-US" sz="2800" b="1" dirty="0">
                    <a:solidFill>
                      <a:schemeClr val="bg1"/>
                    </a:solidFill>
                    <a:highlight>
                      <a:srgbClr val="1F4394"/>
                    </a:highlight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KANs are resilient to catastrophic forgetting</a:t>
                </a:r>
                <a:r>
                  <a:rPr lang="en-US" sz="28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, whereas MLP can’t.</a:t>
                </a:r>
              </a:p>
              <a:p>
                <a:pPr marL="342900" indent="-342900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endParaRPr lang="en-US" sz="2800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  <a:p>
                <a:pPr marL="342900" indent="-342900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lang="en-US" sz="2800" b="1" i="1" dirty="0">
                    <a:solidFill>
                      <a:schemeClr val="bg1"/>
                    </a:solidFill>
                    <a:highlight>
                      <a:srgbClr val="1F4394"/>
                    </a:highlight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Symbolic regression </a:t>
                </a:r>
                <a:r>
                  <a:rPr lang="en-US" sz="2800" b="1" dirty="0">
                    <a:solidFill>
                      <a:schemeClr val="bg1"/>
                    </a:solidFill>
                    <a:highlight>
                      <a:srgbClr val="1F4394"/>
                    </a:highlight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can be easily performed</a:t>
                </a:r>
                <a:r>
                  <a:rPr lang="en-US" sz="2800" dirty="0">
                    <a:solidFill>
                      <a:schemeClr val="bg1"/>
                    </a:solidFill>
                    <a:highlight>
                      <a:srgbClr val="1F4394"/>
                    </a:highlight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</a:t>
                </a:r>
                <a:r>
                  <a:rPr lang="en-US" sz="28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by fitting a function to each spline to reveal potentially useful feature relationships.</a:t>
                </a:r>
              </a:p>
            </p:txBody>
          </p:sp>
        </mc:Choice>
        <mc:Fallback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5F6B530-8AFE-AAE6-10EA-0AAED5A49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04" y="1450817"/>
                <a:ext cx="11332464" cy="4841744"/>
              </a:xfrm>
              <a:prstGeom prst="rect">
                <a:avLst/>
              </a:prstGeom>
              <a:blipFill>
                <a:blip r:embed="rId2"/>
                <a:stretch>
                  <a:fillRect l="-914" t="-2645" r="-10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352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39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631EB-1CC1-C020-6B2C-18BBE0CC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olo 1">
            <a:extLst>
              <a:ext uri="{FF2B5EF4-FFF2-40B4-BE49-F238E27FC236}">
                <a16:creationId xmlns:a16="http://schemas.microsoft.com/office/drawing/2014/main" id="{9C9A32BA-5389-4D98-865E-C9326D68A745}"/>
              </a:ext>
            </a:extLst>
          </p:cNvPr>
          <p:cNvSpPr txBox="1">
            <a:spLocks/>
          </p:cNvSpPr>
          <p:nvPr/>
        </p:nvSpPr>
        <p:spPr>
          <a:xfrm>
            <a:off x="0" y="3032181"/>
            <a:ext cx="12192000" cy="793637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 hangingPunct="0"/>
            <a:r>
              <a:rPr kumimoji="0" lang="en-US" sz="5400" b="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Franklin Gothic Demi"/>
                <a:ea typeface="+mj-ea"/>
                <a:cs typeface="+mj-cs"/>
              </a:rPr>
              <a:t>Data Preprocessing</a:t>
            </a:r>
            <a:endParaRPr lang="en-US" sz="5400" b="0" dirty="0">
              <a:solidFill>
                <a:schemeClr val="bg1"/>
              </a:solidFill>
              <a:latin typeface="Franklin Gothic Demi" panose="020B0703020102020204" pitchFamily="34" charset="0"/>
              <a:ea typeface="ADLaM Display" panose="020F0502020204030204" pitchFamily="2" charset="0"/>
              <a:cs typeface="Noto Sans Devanagari" pitchFamily="2"/>
            </a:endParaRPr>
          </a:p>
        </p:txBody>
      </p:sp>
      <p:pic>
        <p:nvPicPr>
          <p:cNvPr id="40" name="Immagine 3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A895D33A-F13A-2A5C-8A02-82F77DA340A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2" name="Immagine 1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3A8C171B-0FD1-1C20-C742-129F4EB34F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78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, diagramma, mappa, schermata&#10;&#10;Descrizione generata automaticamente">
            <a:extLst>
              <a:ext uri="{FF2B5EF4-FFF2-40B4-BE49-F238E27FC236}">
                <a16:creationId xmlns:a16="http://schemas.microsoft.com/office/drawing/2014/main" id="{D83B6550-5C22-18F8-0B4F-0F6FF655F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491" y="0"/>
            <a:ext cx="9809018" cy="6858000"/>
          </a:xfrm>
          <a:prstGeom prst="rect">
            <a:avLst/>
          </a:prstGeom>
        </p:spPr>
      </p:pic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B6944D6D-10FE-DE02-74D3-01127881B120}"/>
              </a:ext>
            </a:extLst>
          </p:cNvPr>
          <p:cNvSpPr/>
          <p:nvPr/>
        </p:nvSpPr>
        <p:spPr>
          <a:xfrm>
            <a:off x="7649497" y="1848464"/>
            <a:ext cx="884902" cy="207744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1665F109-86F6-26D5-85C4-BD9004E3B2F5}"/>
              </a:ext>
            </a:extLst>
          </p:cNvPr>
          <p:cNvCxnSpPr>
            <a:cxnSpLocks/>
          </p:cNvCxnSpPr>
          <p:nvPr/>
        </p:nvCxnSpPr>
        <p:spPr>
          <a:xfrm flipV="1">
            <a:off x="8107305" y="1097434"/>
            <a:ext cx="0" cy="734039"/>
          </a:xfrm>
          <a:prstGeom prst="line">
            <a:avLst/>
          </a:prstGeom>
          <a:ln w="762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BAAD017-E983-0D7D-BECF-0CBA7FE56524}"/>
              </a:ext>
            </a:extLst>
          </p:cNvPr>
          <p:cNvSpPr txBox="1"/>
          <p:nvPr/>
        </p:nvSpPr>
        <p:spPr>
          <a:xfrm>
            <a:off x="6898096" y="571576"/>
            <a:ext cx="2418418" cy="734039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FF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discarded</a:t>
            </a:r>
          </a:p>
        </p:txBody>
      </p:sp>
    </p:spTree>
    <p:extLst>
      <p:ext uri="{BB962C8B-B14F-4D97-AF65-F5344CB8AC3E}">
        <p14:creationId xmlns:p14="http://schemas.microsoft.com/office/powerpoint/2010/main" val="1962127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F52B66EA-E270-435F-5EB0-FB45DBCB878B}"/>
              </a:ext>
            </a:extLst>
          </p:cNvPr>
          <p:cNvSpPr txBox="1">
            <a:spLocks/>
          </p:cNvSpPr>
          <p:nvPr/>
        </p:nvSpPr>
        <p:spPr>
          <a:xfrm>
            <a:off x="450" y="285248"/>
            <a:ext cx="12177773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latin typeface="Franklin Gothic Demi"/>
              </a:rPr>
              <a:t>Multicollinearity check</a:t>
            </a:r>
            <a:endParaRPr lang="it-IT" dirty="0">
              <a:latin typeface="Franklin Gothic Demi"/>
            </a:endParaRPr>
          </a:p>
        </p:txBody>
      </p:sp>
      <p:pic>
        <p:nvPicPr>
          <p:cNvPr id="15" name="Immagine 14" descr="Immagine che contiene linea, schermata, diagramma, Diagramma&#10;&#10;Descrizione generata automaticamente">
            <a:extLst>
              <a:ext uri="{FF2B5EF4-FFF2-40B4-BE49-F238E27FC236}">
                <a16:creationId xmlns:a16="http://schemas.microsoft.com/office/drawing/2014/main" id="{70F3D3DC-7039-8450-D81E-366924B523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6963"/>
            <a:ext cx="12192000" cy="3490153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78ED8700-CA99-040E-63C8-D6C994478209}"/>
              </a:ext>
            </a:extLst>
          </p:cNvPr>
          <p:cNvSpPr/>
          <p:nvPr/>
        </p:nvSpPr>
        <p:spPr>
          <a:xfrm>
            <a:off x="3883744" y="1366459"/>
            <a:ext cx="1750141" cy="346065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1C80E46F-FB0C-3CB0-DB54-3CD6CABF40BE}"/>
              </a:ext>
            </a:extLst>
          </p:cNvPr>
          <p:cNvSpPr/>
          <p:nvPr/>
        </p:nvSpPr>
        <p:spPr>
          <a:xfrm>
            <a:off x="8804790" y="1366458"/>
            <a:ext cx="1750141" cy="346065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E0050EE-4714-5B53-B598-BBE90AC719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5412882"/>
                <a:ext cx="12178223" cy="796936"/>
              </a:xfrm>
              <a:prstGeom prst="rect">
                <a:avLst/>
              </a:prstGeom>
            </p:spPr>
            <p:txBody>
              <a:bodyPr vert="horz" lIns="91440" tIns="45720" rIns="91440" bIns="45720" rtlCol="0" anchorCtr="0" compatLnSpc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𝒏𝒑</m:t>
                      </m:r>
                      <m:r>
                        <a:rPr lang="en-US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≈−</m:t>
                      </m:r>
                      <m:r>
                        <a:rPr lang="en-US" sz="4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𝟏</m:t>
                      </m:r>
                      <m:r>
                        <a:rPr lang="en-US" sz="4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.</m:t>
                      </m:r>
                      <m:r>
                        <a:rPr lang="en-US" sz="4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𝟎𝟔</m:t>
                      </m:r>
                      <m:r>
                        <a:rPr lang="en-US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𝒏𝒈</m:t>
                      </m:r>
                      <m:r>
                        <a:rPr lang="en-US" sz="4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 +</m:t>
                      </m:r>
                      <m:r>
                        <a:rPr lang="en-US" sz="4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𝟏𝟔𝟓</m:t>
                      </m:r>
                      <m:r>
                        <a:rPr lang="en-US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,  </m:t>
                      </m:r>
                      <m:sSup>
                        <m:sSupPr>
                          <m:ctrlPr>
                            <a:rPr lang="en-US" sz="4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𝑅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=0.975</m:t>
                      </m:r>
                    </m:oMath>
                  </m:oMathPara>
                </a14:m>
                <a:endParaRPr lang="en-US" sz="4000" i="1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mc:Choice>
        <mc:Fallback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E0050EE-4714-5B53-B598-BBE90AC71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412882"/>
                <a:ext cx="12178223" cy="796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0334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  <p:pic>
        <p:nvPicPr>
          <p:cNvPr id="10" name="Immagine 9" descr="Immagine che contiene testo, schermata, Diagramma, diagramma&#10;&#10;Descrizione generata automaticamente">
            <a:extLst>
              <a:ext uri="{FF2B5EF4-FFF2-40B4-BE49-F238E27FC236}">
                <a16:creationId xmlns:a16="http://schemas.microsoft.com/office/drawing/2014/main" id="{9BF13416-F95B-8121-62F9-6D98FE4E6E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974"/>
            <a:ext cx="12192000" cy="5147316"/>
          </a:xfrm>
          <a:prstGeom prst="rect">
            <a:avLst/>
          </a:prstGeom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F52B66EA-E270-435F-5EB0-FB45DBCB878B}"/>
              </a:ext>
            </a:extLst>
          </p:cNvPr>
          <p:cNvSpPr txBox="1">
            <a:spLocks/>
          </p:cNvSpPr>
          <p:nvPr/>
        </p:nvSpPr>
        <p:spPr>
          <a:xfrm>
            <a:off x="450" y="285248"/>
            <a:ext cx="12177773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latin typeface="Franklin Gothic Demi"/>
              </a:rPr>
              <a:t>Cherry picking for regression</a:t>
            </a:r>
            <a:endParaRPr lang="it-IT" dirty="0">
              <a:latin typeface="Franklin Gothic Demi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64DC72D-A329-7A9C-97F7-551DCFCF387B}"/>
              </a:ext>
            </a:extLst>
          </p:cNvPr>
          <p:cNvSpPr/>
          <p:nvPr/>
        </p:nvSpPr>
        <p:spPr>
          <a:xfrm>
            <a:off x="3982064" y="1198390"/>
            <a:ext cx="4719484" cy="282441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2E4A420-5E16-5BA1-27AB-C61000AF22A7}"/>
              </a:ext>
            </a:extLst>
          </p:cNvPr>
          <p:cNvSpPr/>
          <p:nvPr/>
        </p:nvSpPr>
        <p:spPr>
          <a:xfrm>
            <a:off x="688259" y="1480831"/>
            <a:ext cx="2241754" cy="458567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2763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64E237D-725E-9022-FCA3-6356F5E1CF53}"/>
              </a:ext>
            </a:extLst>
          </p:cNvPr>
          <p:cNvSpPr/>
          <p:nvPr/>
        </p:nvSpPr>
        <p:spPr>
          <a:xfrm>
            <a:off x="-1" y="1169974"/>
            <a:ext cx="12177773" cy="5703292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9BF13416-F95B-8121-62F9-6D98FE4E6E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544" y="1169974"/>
            <a:ext cx="11346911" cy="5688026"/>
          </a:xfrm>
          <a:prstGeom prst="rect">
            <a:avLst/>
          </a:prstGeom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F52B66EA-E270-435F-5EB0-FB45DBCB878B}"/>
              </a:ext>
            </a:extLst>
          </p:cNvPr>
          <p:cNvSpPr txBox="1">
            <a:spLocks/>
          </p:cNvSpPr>
          <p:nvPr/>
        </p:nvSpPr>
        <p:spPr>
          <a:xfrm>
            <a:off x="450" y="285248"/>
            <a:ext cx="12177773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latin typeface="Franklin Gothic Demi"/>
              </a:rPr>
              <a:t>Cherry picking for classification</a:t>
            </a:r>
            <a:endParaRPr lang="it-IT" dirty="0">
              <a:latin typeface="Franklin Gothic Demi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64DC72D-A329-7A9C-97F7-551DCFCF387B}"/>
              </a:ext>
            </a:extLst>
          </p:cNvPr>
          <p:cNvSpPr/>
          <p:nvPr/>
        </p:nvSpPr>
        <p:spPr>
          <a:xfrm>
            <a:off x="3441290" y="1178726"/>
            <a:ext cx="5801032" cy="282441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2E4A420-5E16-5BA1-27AB-C61000AF22A7}"/>
              </a:ext>
            </a:extLst>
          </p:cNvPr>
          <p:cNvSpPr/>
          <p:nvPr/>
        </p:nvSpPr>
        <p:spPr>
          <a:xfrm>
            <a:off x="1130710" y="1461167"/>
            <a:ext cx="1995947" cy="5377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0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39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631EB-1CC1-C020-6B2C-18BBE0CC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olo 1">
            <a:extLst>
              <a:ext uri="{FF2B5EF4-FFF2-40B4-BE49-F238E27FC236}">
                <a16:creationId xmlns:a16="http://schemas.microsoft.com/office/drawing/2014/main" id="{9C9A32BA-5389-4D98-865E-C9326D68A745}"/>
              </a:ext>
            </a:extLst>
          </p:cNvPr>
          <p:cNvSpPr txBox="1">
            <a:spLocks/>
          </p:cNvSpPr>
          <p:nvPr/>
        </p:nvSpPr>
        <p:spPr>
          <a:xfrm>
            <a:off x="1907458" y="2757413"/>
            <a:ext cx="8377084" cy="1343174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 hangingPunct="0"/>
            <a:r>
              <a:rPr kumimoji="0" lang="en-US" sz="5400" b="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Franklin Gothic Demi"/>
                <a:ea typeface="+mj-ea"/>
                <a:cs typeface="+mj-cs"/>
              </a:rPr>
              <a:t>KANs are more interpretable than MLPs</a:t>
            </a:r>
            <a:endParaRPr lang="en-US" sz="5400" b="0" dirty="0">
              <a:solidFill>
                <a:schemeClr val="bg1"/>
              </a:solidFill>
              <a:latin typeface="Franklin Gothic Demi" panose="020B0703020102020204" pitchFamily="34" charset="0"/>
              <a:ea typeface="ADLaM Display" panose="020F0502020204030204" pitchFamily="2" charset="0"/>
              <a:cs typeface="Noto Sans Devanagari" pitchFamily="2"/>
            </a:endParaRPr>
          </a:p>
        </p:txBody>
      </p:sp>
      <p:pic>
        <p:nvPicPr>
          <p:cNvPr id="40" name="Immagine 3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A895D33A-F13A-2A5C-8A02-82F77DA340A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2" name="Immagine 1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3A8C171B-0FD1-1C20-C742-129F4EB34F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50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diagramma, schermata, linea&#10;&#10;Descrizione generata automaticamente">
            <a:extLst>
              <a:ext uri="{FF2B5EF4-FFF2-40B4-BE49-F238E27FC236}">
                <a16:creationId xmlns:a16="http://schemas.microsoft.com/office/drawing/2014/main" id="{6F7FF1A3-A818-B73B-80C7-8A5BFFCA8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729" y="-9887"/>
            <a:ext cx="8721213" cy="6867888"/>
          </a:xfrm>
          <a:prstGeom prst="rect">
            <a:avLst/>
          </a:prstGeom>
        </p:spPr>
      </p:pic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  <p:sp>
        <p:nvSpPr>
          <p:cNvPr id="9" name="Titolo 1">
            <a:extLst>
              <a:ext uri="{FF2B5EF4-FFF2-40B4-BE49-F238E27FC236}">
                <a16:creationId xmlns:a16="http://schemas.microsoft.com/office/drawing/2014/main" id="{D2FF7A4B-133C-5E91-5FBB-C6A7F996CC42}"/>
              </a:ext>
            </a:extLst>
          </p:cNvPr>
          <p:cNvSpPr txBox="1">
            <a:spLocks/>
          </p:cNvSpPr>
          <p:nvPr/>
        </p:nvSpPr>
        <p:spPr>
          <a:xfrm rot="16200000">
            <a:off x="-2065867" y="3035657"/>
            <a:ext cx="6858001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latin typeface="Franklin Gothic Demi"/>
              </a:rPr>
              <a:t>Regression</a:t>
            </a:r>
            <a:endParaRPr lang="it-IT" dirty="0">
              <a:latin typeface="Franklin Gothic Demi"/>
            </a:endParaRPr>
          </a:p>
        </p:txBody>
      </p:sp>
    </p:spTree>
    <p:extLst>
      <p:ext uri="{BB962C8B-B14F-4D97-AF65-F5344CB8AC3E}">
        <p14:creationId xmlns:p14="http://schemas.microsoft.com/office/powerpoint/2010/main" val="2241682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F7FF1A3-A818-B73B-80C7-8A5BFFCA8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5599" y="-9887"/>
            <a:ext cx="8587473" cy="6867888"/>
          </a:xfrm>
          <a:prstGeom prst="rect">
            <a:avLst/>
          </a:prstGeom>
        </p:spPr>
      </p:pic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7E612A8-0E29-2631-9C33-D769DB85699F}"/>
              </a:ext>
            </a:extLst>
          </p:cNvPr>
          <p:cNvSpPr txBox="1">
            <a:spLocks/>
          </p:cNvSpPr>
          <p:nvPr/>
        </p:nvSpPr>
        <p:spPr>
          <a:xfrm rot="16200000">
            <a:off x="-2026744" y="3035657"/>
            <a:ext cx="6858001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latin typeface="Franklin Gothic Demi"/>
              </a:rPr>
              <a:t>Classification</a:t>
            </a:r>
            <a:endParaRPr lang="it-IT" dirty="0">
              <a:latin typeface="Franklin Gothic Demi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DD2C4F2-1B1F-E58A-E71A-53BA3C3C32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1038" y="3096365"/>
            <a:ext cx="1743318" cy="40963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DB17DD8A-E59A-0143-945A-548E1A0EEE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4716" y="3104915"/>
            <a:ext cx="1914792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565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F7FF1A3-A818-B73B-80C7-8A5BFFCA8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949" y="556247"/>
            <a:ext cx="10500102" cy="5745504"/>
          </a:xfrm>
          <a:prstGeom prst="rect">
            <a:avLst/>
          </a:prstGeom>
        </p:spPr>
      </p:pic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7E612A8-0E29-2631-9C33-D769DB85699F}"/>
              </a:ext>
            </a:extLst>
          </p:cNvPr>
          <p:cNvSpPr txBox="1">
            <a:spLocks/>
          </p:cNvSpPr>
          <p:nvPr/>
        </p:nvSpPr>
        <p:spPr>
          <a:xfrm rot="16200000">
            <a:off x="-2988030" y="3035657"/>
            <a:ext cx="6858001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latin typeface="Franklin Gothic Demi"/>
              </a:rPr>
              <a:t>Regression</a:t>
            </a:r>
            <a:endParaRPr lang="it-IT" dirty="0">
              <a:latin typeface="Franklin Gothic Demi"/>
            </a:endParaRPr>
          </a:p>
        </p:txBody>
      </p:sp>
    </p:spTree>
    <p:extLst>
      <p:ext uri="{BB962C8B-B14F-4D97-AF65-F5344CB8AC3E}">
        <p14:creationId xmlns:p14="http://schemas.microsoft.com/office/powerpoint/2010/main" val="1409278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D0AFFD-5A1F-4863-412B-976BA33E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B7885B1E-FAD7-C3BF-8775-2E99B0FB11C8}"/>
              </a:ext>
            </a:extLst>
          </p:cNvPr>
          <p:cNvSpPr/>
          <p:nvPr/>
        </p:nvSpPr>
        <p:spPr>
          <a:xfrm>
            <a:off x="1" y="-25400"/>
            <a:ext cx="12191550" cy="6883399"/>
          </a:xfrm>
          <a:prstGeom prst="rect">
            <a:avLst/>
          </a:prstGeom>
          <a:solidFill>
            <a:srgbClr val="0E1A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 descr="Immagine che contiene modello, Lilac, Arti creative, Modello (moda)&#10;&#10;Descrizione generata automaticamente">
            <a:extLst>
              <a:ext uri="{FF2B5EF4-FFF2-40B4-BE49-F238E27FC236}">
                <a16:creationId xmlns:a16="http://schemas.microsoft.com/office/drawing/2014/main" id="{FBF42FCE-1F1E-6492-84BE-0ECFF0147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524" y="22541"/>
            <a:ext cx="8655027" cy="6835458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F37E4F54-D39F-58CD-BDA1-F82DD913B5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39" t="24548" r="71113" b="31167"/>
          <a:stretch/>
        </p:blipFill>
        <p:spPr>
          <a:xfrm>
            <a:off x="329266" y="1167614"/>
            <a:ext cx="2708382" cy="4538010"/>
          </a:xfrm>
          <a:prstGeom prst="rect">
            <a:avLst/>
          </a:prstGeom>
          <a:ln w="76200">
            <a:solidFill>
              <a:srgbClr val="0070C0"/>
            </a:solidFill>
          </a:ln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20325F4C-7F1E-3EDD-DEA7-62EFAB398F7E}"/>
              </a:ext>
            </a:extLst>
          </p:cNvPr>
          <p:cNvSpPr/>
          <p:nvPr/>
        </p:nvSpPr>
        <p:spPr>
          <a:xfrm>
            <a:off x="3521284" y="3184455"/>
            <a:ext cx="286512" cy="50432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B896496-E19A-EC6C-DAB3-9EB7695FB8D3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078562" y="1144572"/>
            <a:ext cx="585978" cy="2039883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C4874882-8A34-DB6B-BC49-13D303ADBDF2}"/>
              </a:ext>
            </a:extLst>
          </p:cNvPr>
          <p:cNvCxnSpPr>
            <a:cxnSpLocks/>
          </p:cNvCxnSpPr>
          <p:nvPr/>
        </p:nvCxnSpPr>
        <p:spPr>
          <a:xfrm flipV="1">
            <a:off x="3078562" y="3688784"/>
            <a:ext cx="585978" cy="2039883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A862C1CE-6A4D-7896-458B-F6167AF9AE7E}"/>
              </a:ext>
            </a:extLst>
          </p:cNvPr>
          <p:cNvSpPr/>
          <p:nvPr/>
        </p:nvSpPr>
        <p:spPr>
          <a:xfrm>
            <a:off x="329266" y="342090"/>
            <a:ext cx="527984" cy="146581"/>
          </a:xfrm>
          <a:prstGeom prst="rect">
            <a:avLst/>
          </a:prstGeom>
          <a:solidFill>
            <a:srgbClr val="FF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E7823B48-FB97-9C86-F01F-3B3D18A8D711}"/>
              </a:ext>
            </a:extLst>
          </p:cNvPr>
          <p:cNvSpPr/>
          <p:nvPr/>
        </p:nvSpPr>
        <p:spPr>
          <a:xfrm>
            <a:off x="329266" y="756441"/>
            <a:ext cx="527984" cy="146581"/>
          </a:xfrm>
          <a:prstGeom prst="rect">
            <a:avLst/>
          </a:prstGeom>
          <a:solidFill>
            <a:srgbClr val="92D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5D89B77D-C783-CA50-3B51-5B6AA4CBA910}"/>
              </a:ext>
            </a:extLst>
          </p:cNvPr>
          <p:cNvSpPr txBox="1"/>
          <p:nvPr/>
        </p:nvSpPr>
        <p:spPr>
          <a:xfrm>
            <a:off x="929640" y="225890"/>
            <a:ext cx="2974559" cy="378979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2000" i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Negative</a:t>
            </a:r>
            <a:r>
              <a:rPr lang="it-IT" sz="20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weight</a:t>
            </a:r>
            <a:endParaRPr lang="en-US" sz="200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B235E1E7-B767-99CD-222B-A5337D8D72EB}"/>
              </a:ext>
            </a:extLst>
          </p:cNvPr>
          <p:cNvSpPr txBox="1"/>
          <p:nvPr/>
        </p:nvSpPr>
        <p:spPr>
          <a:xfrm>
            <a:off x="929639" y="640241"/>
            <a:ext cx="2974559" cy="378979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2000" i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Positive</a:t>
            </a:r>
            <a:r>
              <a:rPr lang="it-IT" sz="20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weight</a:t>
            </a:r>
            <a:endParaRPr lang="en-US" sz="200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63240A70-ADB5-1314-F771-7AB7BDF93DA4}"/>
              </a:ext>
            </a:extLst>
          </p:cNvPr>
          <p:cNvSpPr/>
          <p:nvPr/>
        </p:nvSpPr>
        <p:spPr>
          <a:xfrm>
            <a:off x="1" y="6198986"/>
            <a:ext cx="5864086" cy="6590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Franklin Gothic Demi"/>
              </a:rPr>
              <a:t>…what about interpretability?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2676312-1A0A-3567-3433-E120DD76518D}"/>
              </a:ext>
            </a:extLst>
          </p:cNvPr>
          <p:cNvSpPr txBox="1"/>
          <p:nvPr/>
        </p:nvSpPr>
        <p:spPr>
          <a:xfrm>
            <a:off x="10144539" y="6122504"/>
            <a:ext cx="2047012" cy="735496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r"/>
            <a:r>
              <a:rPr lang="it-IT" sz="200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FLOPs</a:t>
            </a:r>
            <a:r>
              <a:rPr lang="it-IT" sz="2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</a:t>
            </a:r>
            <a:r>
              <a:rPr lang="it-IT" sz="2000" b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136.2 K</a:t>
            </a:r>
          </a:p>
          <a:p>
            <a:pPr algn="r"/>
            <a:r>
              <a:rPr lang="it-IT" sz="200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Params</a:t>
            </a:r>
            <a:r>
              <a:rPr lang="it-IT" sz="2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</a:t>
            </a:r>
            <a:r>
              <a:rPr lang="it-IT" sz="2000" b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68.1 k</a:t>
            </a:r>
          </a:p>
        </p:txBody>
      </p:sp>
      <p:pic>
        <p:nvPicPr>
          <p:cNvPr id="4" name="Immagine 3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F5060FC5-4428-6A2F-9B60-884B1447BA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01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F7FF1A3-A818-B73B-80C7-8A5BFFCA8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76" y="2733368"/>
            <a:ext cx="12210276" cy="4124632"/>
          </a:xfrm>
          <a:prstGeom prst="rect">
            <a:avLst/>
          </a:prstGeom>
        </p:spPr>
      </p:pic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  <p:sp>
        <p:nvSpPr>
          <p:cNvPr id="3" name="Titolo 1">
            <a:extLst>
              <a:ext uri="{FF2B5EF4-FFF2-40B4-BE49-F238E27FC236}">
                <a16:creationId xmlns:a16="http://schemas.microsoft.com/office/drawing/2014/main" id="{C1B88D00-AE0D-42EE-53CC-C08C941DD4F8}"/>
              </a:ext>
            </a:extLst>
          </p:cNvPr>
          <p:cNvSpPr txBox="1">
            <a:spLocks/>
          </p:cNvSpPr>
          <p:nvPr/>
        </p:nvSpPr>
        <p:spPr>
          <a:xfrm>
            <a:off x="450" y="285248"/>
            <a:ext cx="12177773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latin typeface="Franklin Gothic Demi"/>
              </a:rPr>
              <a:t>KANs are accurate</a:t>
            </a:r>
            <a:endParaRPr lang="it-IT" dirty="0">
              <a:latin typeface="Franklin Gothic Dem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07EBCBFD-8328-179A-6816-E8DFE383A5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3080" y="1733357"/>
                <a:ext cx="11152064" cy="796936"/>
              </a:xfrm>
              <a:prstGeom prst="rect">
                <a:avLst/>
              </a:prstGeom>
              <a:ln w="76200">
                <a:solidFill>
                  <a:srgbClr val="FF0000"/>
                </a:solidFill>
              </a:ln>
            </p:spPr>
            <p:txBody>
              <a:bodyPr vert="horz" lIns="91440" tIns="45720" rIns="91440" bIns="45720" rtlCol="0" anchorCtr="0" compatLnSpc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µ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𝑡𝑟</m:t>
                          </m:r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Noto Sans" panose="020B0502040504020204" pitchFamily="34" charset="0"/>
                                  <a:cs typeface="Noto Sans" panose="020B0502040504020204" pitchFamily="34" charset="0"/>
                                </a:rPr>
                                <m:t>𝑚𝑟𝑔</m:t>
                              </m:r>
                            </m:sub>
                          </m:sSub>
                        </m:sub>
                      </m:sSub>
                      <m:r>
                        <a:rPr lang="en-US" sz="3200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≈ 8 −76(−0.1</m:t>
                      </m:r>
                      <m:r>
                        <a:rPr lang="en-US" sz="3200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𝑜𝑎𝑡</m:t>
                      </m:r>
                      <m:r>
                        <a:rPr lang="en-US" sz="3200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 +0.2</m:t>
                      </m:r>
                      <m:r>
                        <a:rPr lang="en-US" sz="3200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𝑚𝑔𝑡</m:t>
                      </m:r>
                      <m:r>
                        <a:rPr lang="en-US" sz="3200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−</m:t>
                      </m:r>
                      <m:r>
                        <a:rPr lang="en-US" sz="3200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𝑐𝑜𝑠</m:t>
                      </m:r>
                      <m:r>
                        <a:rPr lang="en-US" sz="3200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(0.2</m:t>
                      </m:r>
                      <m:r>
                        <a:rPr lang="en-US" sz="3200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𝑡𝑟</m:t>
                      </m:r>
                      <m:sSub>
                        <m:sSubPr>
                          <m:ctrlPr>
                            <a:rPr lang="en-U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</m:ctrlPr>
                        </m:sSubPr>
                        <m:e>
                          <m:r>
                            <a:rPr lang="en-US" sz="32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Noto Sans" panose="020B0502040504020204" pitchFamily="34" charset="0"/>
                              <a:cs typeface="Noto Sans" panose="020B0502040504020204" pitchFamily="34" charset="0"/>
                            </a:rPr>
                            <m:t>𝑚𝑠𝑟</m:t>
                          </m:r>
                        </m:sub>
                      </m:sSub>
                      <m:r>
                        <a:rPr lang="en-US" sz="3200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 − 8))</m:t>
                      </m:r>
                    </m:oMath>
                  </m:oMathPara>
                </a14:m>
                <a:endParaRPr lang="en-US" sz="3200" i="1" dirty="0">
                  <a:solidFill>
                    <a:schemeClr val="bg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mc:Choice>
        <mc:Fallback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07EBCBFD-8328-179A-6816-E8DFE383A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80" y="1733357"/>
                <a:ext cx="11152064" cy="7969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762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33B3F7F-FE01-7B66-81B8-F51C73013AED}"/>
              </a:ext>
            </a:extLst>
          </p:cNvPr>
          <p:cNvSpPr txBox="1"/>
          <p:nvPr/>
        </p:nvSpPr>
        <p:spPr>
          <a:xfrm>
            <a:off x="488731" y="1061876"/>
            <a:ext cx="11190189" cy="691789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Learned splines reveal the following symbolic formula:</a:t>
            </a:r>
          </a:p>
        </p:txBody>
      </p:sp>
    </p:spTree>
    <p:extLst>
      <p:ext uri="{BB962C8B-B14F-4D97-AF65-F5344CB8AC3E}">
        <p14:creationId xmlns:p14="http://schemas.microsoft.com/office/powerpoint/2010/main" val="25866122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39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631EB-1CC1-C020-6B2C-18BBE0CC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olo 1">
            <a:extLst>
              <a:ext uri="{FF2B5EF4-FFF2-40B4-BE49-F238E27FC236}">
                <a16:creationId xmlns:a16="http://schemas.microsoft.com/office/drawing/2014/main" id="{9C9A32BA-5389-4D98-865E-C9326D68A745}"/>
              </a:ext>
            </a:extLst>
          </p:cNvPr>
          <p:cNvSpPr txBox="1">
            <a:spLocks/>
          </p:cNvSpPr>
          <p:nvPr/>
        </p:nvSpPr>
        <p:spPr>
          <a:xfrm>
            <a:off x="1907458" y="2324793"/>
            <a:ext cx="8377084" cy="2070226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 hangingPunct="0"/>
            <a:r>
              <a:rPr kumimoji="0" lang="en-US" sz="5400" b="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Franklin Gothic Demi"/>
                <a:ea typeface="+mj-ea"/>
                <a:cs typeface="+mj-cs"/>
              </a:rPr>
              <a:t>KANs are more resilient to catastrophic forgetting than MLPs</a:t>
            </a:r>
            <a:endParaRPr lang="en-US" sz="5400" b="0" dirty="0">
              <a:solidFill>
                <a:schemeClr val="bg1"/>
              </a:solidFill>
              <a:latin typeface="Franklin Gothic Demi" panose="020B0703020102020204" pitchFamily="34" charset="0"/>
              <a:ea typeface="ADLaM Display" panose="020F0502020204030204" pitchFamily="2" charset="0"/>
              <a:cs typeface="Noto Sans Devanagari" pitchFamily="2"/>
            </a:endParaRPr>
          </a:p>
        </p:txBody>
      </p:sp>
      <p:pic>
        <p:nvPicPr>
          <p:cNvPr id="40" name="Immagine 3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A895D33A-F13A-2A5C-8A02-82F77DA340A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2" name="Immagine 1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3A8C171B-0FD1-1C20-C742-129F4EB34F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419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  <p:sp>
        <p:nvSpPr>
          <p:cNvPr id="3" name="Titolo 1">
            <a:extLst>
              <a:ext uri="{FF2B5EF4-FFF2-40B4-BE49-F238E27FC236}">
                <a16:creationId xmlns:a16="http://schemas.microsoft.com/office/drawing/2014/main" id="{C1B88D00-AE0D-42EE-53CC-C08C941DD4F8}"/>
              </a:ext>
            </a:extLst>
          </p:cNvPr>
          <p:cNvSpPr txBox="1">
            <a:spLocks/>
          </p:cNvSpPr>
          <p:nvPr/>
        </p:nvSpPr>
        <p:spPr>
          <a:xfrm>
            <a:off x="450" y="285248"/>
            <a:ext cx="12177773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latin typeface="Franklin Gothic Demi"/>
              </a:rPr>
              <a:t>Incremental Learning Scenarios</a:t>
            </a:r>
            <a:endParaRPr lang="it-IT" dirty="0">
              <a:latin typeface="Franklin Gothic Demi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33B3F7F-FE01-7B66-81B8-F51C73013AED}"/>
              </a:ext>
            </a:extLst>
          </p:cNvPr>
          <p:cNvSpPr txBox="1"/>
          <p:nvPr/>
        </p:nvSpPr>
        <p:spPr>
          <a:xfrm>
            <a:off x="488731" y="1061876"/>
            <a:ext cx="11190189" cy="691789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Ven and </a:t>
            </a:r>
            <a:r>
              <a:rPr lang="en-US" sz="24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Tolias</a:t>
            </a:r>
            <a:r>
              <a:rPr lang="en-US" sz="2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introduce three Incremental  Learning (IL) scenarios of increasing difficulty:</a:t>
            </a:r>
          </a:p>
        </p:txBody>
      </p:sp>
      <p:pic>
        <p:nvPicPr>
          <p:cNvPr id="2" name="Immagine 1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BD42F9F0-5979-792F-D795-E8AA129CFAE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988"/>
          <a:stretch/>
        </p:blipFill>
        <p:spPr>
          <a:xfrm>
            <a:off x="-11434" y="1995947"/>
            <a:ext cx="12214867" cy="4875326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F4C64B19-EFEA-BB85-CF83-F06F327D0F80}"/>
              </a:ext>
            </a:extLst>
          </p:cNvPr>
          <p:cNvSpPr/>
          <p:nvPr/>
        </p:nvSpPr>
        <p:spPr>
          <a:xfrm>
            <a:off x="4562169" y="1995947"/>
            <a:ext cx="3864076" cy="486205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05DCC5A-93D0-41B6-830E-F0184A7AE769}"/>
              </a:ext>
            </a:extLst>
          </p:cNvPr>
          <p:cNvSpPr txBox="1"/>
          <p:nvPr/>
        </p:nvSpPr>
        <p:spPr>
          <a:xfrm>
            <a:off x="4562170" y="1529387"/>
            <a:ext cx="3864076" cy="441059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FF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Our focus</a:t>
            </a:r>
          </a:p>
        </p:txBody>
      </p:sp>
    </p:spTree>
    <p:extLst>
      <p:ext uri="{BB962C8B-B14F-4D97-AF65-F5344CB8AC3E}">
        <p14:creationId xmlns:p14="http://schemas.microsoft.com/office/powerpoint/2010/main" val="3852096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  <p:sp>
        <p:nvSpPr>
          <p:cNvPr id="3" name="Titolo 1">
            <a:extLst>
              <a:ext uri="{FF2B5EF4-FFF2-40B4-BE49-F238E27FC236}">
                <a16:creationId xmlns:a16="http://schemas.microsoft.com/office/drawing/2014/main" id="{C1B88D00-AE0D-42EE-53CC-C08C941DD4F8}"/>
              </a:ext>
            </a:extLst>
          </p:cNvPr>
          <p:cNvSpPr txBox="1">
            <a:spLocks/>
          </p:cNvSpPr>
          <p:nvPr/>
        </p:nvSpPr>
        <p:spPr>
          <a:xfrm>
            <a:off x="450" y="285248"/>
            <a:ext cx="12177773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latin typeface="Franklin Gothic Demi"/>
              </a:rPr>
              <a:t>Experiment Setup</a:t>
            </a:r>
            <a:endParaRPr lang="it-IT" dirty="0">
              <a:latin typeface="Franklin Gothic Demi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33B3F7F-FE01-7B66-81B8-F51C73013AED}"/>
              </a:ext>
            </a:extLst>
          </p:cNvPr>
          <p:cNvSpPr txBox="1"/>
          <p:nvPr/>
        </p:nvSpPr>
        <p:spPr>
          <a:xfrm>
            <a:off x="488731" y="1341252"/>
            <a:ext cx="6875629" cy="4857143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KAN and MLP are trained on the </a:t>
            </a:r>
            <a:r>
              <a:rPr lang="en-US" sz="26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classification</a:t>
            </a:r>
            <a:r>
              <a:rPr lang="en-US" sz="26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task once again.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dataset is </a:t>
            </a:r>
            <a:r>
              <a:rPr lang="en-US" sz="26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partitioned into two subsets</a:t>
            </a:r>
            <a:endParaRPr lang="en-US" sz="26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test and training sets are obtained using the holdout method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experiment is </a:t>
            </a:r>
            <a:r>
              <a:rPr lang="en-US" sz="26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repeated with replay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</a:t>
            </a:r>
            <a:r>
              <a:rPr lang="en-US" sz="26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shape</a:t>
            </a:r>
            <a:r>
              <a:rPr lang="en-US" sz="26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of the architectures is chosen to </a:t>
            </a:r>
            <a:r>
              <a:rPr lang="en-US" sz="26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minimize the difference in terms of FLOPS</a:t>
            </a:r>
          </a:p>
        </p:txBody>
      </p:sp>
      <p:pic>
        <p:nvPicPr>
          <p:cNvPr id="5" name="Immagine 4" descr="Immagine che contiene testo, diagramma, mappa, schermata&#10;&#10;Descrizione generata automaticamente">
            <a:extLst>
              <a:ext uri="{FF2B5EF4-FFF2-40B4-BE49-F238E27FC236}">
                <a16:creationId xmlns:a16="http://schemas.microsoft.com/office/drawing/2014/main" id="{91A8D9E4-ABF9-BE0C-9B88-9B7EA1ED155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8" t="23656" r="62229" b="44086"/>
          <a:stretch/>
        </p:blipFill>
        <p:spPr>
          <a:xfrm>
            <a:off x="7708489" y="2072833"/>
            <a:ext cx="4070556" cy="41255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28F8A4D1-D622-F890-B358-D4ABF15EF8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11148" y="1475594"/>
                <a:ext cx="2467897" cy="796936"/>
              </a:xfrm>
              <a:prstGeom prst="rect">
                <a:avLst/>
              </a:prstGeom>
              <a:ln w="76200">
                <a:noFill/>
              </a:ln>
            </p:spPr>
            <p:txBody>
              <a:bodyPr vert="horz" lIns="91440" tIns="45720" rIns="91440" bIns="45720" rtlCol="0" anchorCtr="0" compatLnSpc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𝒏𝒑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≥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𝒏𝒈</m:t>
                      </m:r>
                    </m:oMath>
                  </m:oMathPara>
                </a14:m>
                <a:endParaRPr lang="en-US" sz="3200" b="1" i="1" dirty="0">
                  <a:solidFill>
                    <a:srgbClr val="FF000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mc:Choice>
        <mc:Fallback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28F8A4D1-D622-F890-B358-D4ABF15EF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1148" y="1475594"/>
                <a:ext cx="2467897" cy="7969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76200"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2B862F99-1A5D-D8C2-91D1-F2844E0C70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08489" y="1475594"/>
                <a:ext cx="2467897" cy="796936"/>
              </a:xfrm>
              <a:prstGeom prst="rect">
                <a:avLst/>
              </a:prstGeom>
              <a:ln w="76200">
                <a:noFill/>
              </a:ln>
            </p:spPr>
            <p:txBody>
              <a:bodyPr vert="horz" lIns="91440" tIns="45720" rIns="91440" bIns="45720" rtlCol="0" anchorCtr="0" compatLnSpc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𝒏𝒑</m:t>
                      </m:r>
                      <m:r>
                        <a:rPr lang="en-US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&lt;</m:t>
                      </m:r>
                      <m:r>
                        <a:rPr lang="en-US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m:t>𝒏𝒈</m:t>
                      </m:r>
                    </m:oMath>
                  </m:oMathPara>
                </a14:m>
                <a:endParaRPr lang="en-US" sz="3200" b="1" i="1" dirty="0">
                  <a:solidFill>
                    <a:srgbClr val="00B05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mc:Choice>
        <mc:Fallback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2B862F99-1A5D-D8C2-91D1-F2844E0C7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489" y="1475594"/>
                <a:ext cx="2467897" cy="796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76200"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0050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, diagramma, schermata, Diagramma&#10;&#10;Descrizione generata automaticamente">
            <a:extLst>
              <a:ext uri="{FF2B5EF4-FFF2-40B4-BE49-F238E27FC236}">
                <a16:creationId xmlns:a16="http://schemas.microsoft.com/office/drawing/2014/main" id="{AE470115-5236-E3A0-3B98-DDC03295A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428"/>
            <a:ext cx="12192000" cy="6495143"/>
          </a:xfrm>
          <a:prstGeom prst="rect">
            <a:avLst/>
          </a:prstGeom>
        </p:spPr>
      </p:pic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631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AE470115-5236-E3A0-3B98-DDC03295A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57" y="181428"/>
            <a:ext cx="12025086" cy="6495143"/>
          </a:xfrm>
          <a:prstGeom prst="rect">
            <a:avLst/>
          </a:prstGeom>
        </p:spPr>
      </p:pic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058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B23FCF2-5F9D-38FE-E749-4FA46B393F6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4565" y="45719"/>
            <a:ext cx="1051715" cy="1051715"/>
          </a:xfrm>
          <a:prstGeom prst="rect">
            <a:avLst/>
          </a:prstGeom>
        </p:spPr>
      </p:pic>
      <p:pic>
        <p:nvPicPr>
          <p:cNvPr id="7" name="Immagine 6" descr="Immagine che contiene Carattere, testo, schermata, logo&#10;&#10;Descrizione generata automaticamente">
            <a:extLst>
              <a:ext uri="{FF2B5EF4-FFF2-40B4-BE49-F238E27FC236}">
                <a16:creationId xmlns:a16="http://schemas.microsoft.com/office/drawing/2014/main" id="{54796498-AAD7-B34B-8157-0110C01BF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930" y="45719"/>
            <a:ext cx="1063349" cy="1051715"/>
          </a:xfrm>
          <a:prstGeom prst="rect">
            <a:avLst/>
          </a:prstGeom>
        </p:spPr>
      </p:pic>
      <p:sp>
        <p:nvSpPr>
          <p:cNvPr id="3" name="Titolo 1">
            <a:extLst>
              <a:ext uri="{FF2B5EF4-FFF2-40B4-BE49-F238E27FC236}">
                <a16:creationId xmlns:a16="http://schemas.microsoft.com/office/drawing/2014/main" id="{C1B88D00-AE0D-42EE-53CC-C08C941DD4F8}"/>
              </a:ext>
            </a:extLst>
          </p:cNvPr>
          <p:cNvSpPr txBox="1">
            <a:spLocks/>
          </p:cNvSpPr>
          <p:nvPr/>
        </p:nvSpPr>
        <p:spPr>
          <a:xfrm>
            <a:off x="450" y="285248"/>
            <a:ext cx="12177773" cy="78668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latin typeface="Franklin Gothic Demi"/>
              </a:rPr>
              <a:t>Conclusion</a:t>
            </a:r>
            <a:endParaRPr lang="it-IT" dirty="0">
              <a:latin typeface="Franklin Gothic Demi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33B3F7F-FE01-7B66-81B8-F51C73013AED}"/>
              </a:ext>
            </a:extLst>
          </p:cNvPr>
          <p:cNvSpPr txBox="1"/>
          <p:nvPr/>
        </p:nvSpPr>
        <p:spPr>
          <a:xfrm>
            <a:off x="488730" y="1341252"/>
            <a:ext cx="7141101" cy="4857143"/>
          </a:xfrm>
          <a:prstGeom prst="rect">
            <a:avLst/>
          </a:prstGeom>
        </p:spPr>
        <p:txBody>
          <a:bodyPr vert="horz" lIns="91440" tIns="45720" rIns="91440" bIns="45720" rtlCol="0" anchorCtr="0" compatLnSpc="0">
            <a:no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KANs provide interpretable results </a:t>
            </a:r>
            <a:r>
              <a:rPr lang="en-US" sz="26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=&gt;    </a:t>
            </a:r>
            <a:r>
              <a:rPr lang="en-US" sz="26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We can trust predictions!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6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KANs resist to catastrophic forgetting =&gt; </a:t>
            </a:r>
            <a:r>
              <a:rPr lang="en-US" sz="2600" b="1" dirty="0">
                <a:solidFill>
                  <a:schemeClr val="bg1"/>
                </a:solidFill>
                <a:highlight>
                  <a:srgbClr val="1F4394"/>
                </a:highligh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We can employ them in online pipeline!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6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6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Future work will investigate the use of </a:t>
            </a:r>
            <a:r>
              <a:rPr lang="en-US" sz="26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multiplicative nodes </a:t>
            </a:r>
            <a:r>
              <a:rPr lang="en-US" sz="26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 improve predictive accuracy</a:t>
            </a:r>
            <a:endParaRPr lang="en-US" sz="2600" b="1" dirty="0">
              <a:solidFill>
                <a:schemeClr val="bg1"/>
              </a:solidFill>
              <a:highlight>
                <a:srgbClr val="1F4394"/>
              </a:highligh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098769D-A4EE-E016-CE6F-D12DDD45AD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2384" y="3565458"/>
            <a:ext cx="3930886" cy="314375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61A3BE5-C142-E8B7-86C6-93F3712182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2384" y="1311462"/>
            <a:ext cx="3930885" cy="215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5292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85355D8DB69F340A2534967D577EAB6" ma:contentTypeVersion="11" ma:contentTypeDescription="Creare un nuovo documento." ma:contentTypeScope="" ma:versionID="ace43bf6a4974d2ceaaaa0b491e341ab">
  <xsd:schema xmlns:xsd="http://www.w3.org/2001/XMLSchema" xmlns:xs="http://www.w3.org/2001/XMLSchema" xmlns:p="http://schemas.microsoft.com/office/2006/metadata/properties" xmlns:ns3="3439abdc-987e-4d41-ba7c-db3210db329a" targetNamespace="http://schemas.microsoft.com/office/2006/metadata/properties" ma:root="true" ma:fieldsID="61a853be125f3d4a4010a74a519de5e6" ns3:_="">
    <xsd:import namespace="3439abdc-987e-4d41-ba7c-db3210db329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39abdc-987e-4d41-ba7c-db3210db329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39abdc-987e-4d41-ba7c-db3210db329a" xsi:nil="true"/>
  </documentManagement>
</p:properties>
</file>

<file path=customXml/itemProps1.xml><?xml version="1.0" encoding="utf-8"?>
<ds:datastoreItem xmlns:ds="http://schemas.openxmlformats.org/officeDocument/2006/customXml" ds:itemID="{4F9E230E-09A8-45FF-AAFD-2F1C64BA42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5E8E70-7239-43DC-92DC-A1A084C7FD3E}">
  <ds:schemaRefs>
    <ds:schemaRef ds:uri="3439abdc-987e-4d41-ba7c-db3210db32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1B2F766-EAC8-469D-8FAD-1F72B102129D}">
  <ds:schemaRefs>
    <ds:schemaRef ds:uri="3439abdc-987e-4d41-ba7c-db3210db329a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Gruppo A1 seconda revisione</Template>
  <TotalTime>0</TotalTime>
  <Words>942</Words>
  <Application>Microsoft Office PowerPoint</Application>
  <PresentationFormat>Widescreen</PresentationFormat>
  <Paragraphs>152</Paragraphs>
  <Slides>32</Slides>
  <Notes>23</Notes>
  <HiddenSlides>2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Franklin Gothic Demi</vt:lpstr>
      <vt:lpstr>Noto Sans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MORELLI VALERIO</dc:creator>
  <cp:lastModifiedBy>MORELLI VALERIO</cp:lastModifiedBy>
  <cp:revision>36</cp:revision>
  <dcterms:created xsi:type="dcterms:W3CDTF">2025-03-10T09:21:47Z</dcterms:created>
  <dcterms:modified xsi:type="dcterms:W3CDTF">2025-09-16T22:39:37Z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0x010100885355D8DB69F340A2534967D577EAB6</vt:lpwstr>
  </property>
</Properties>
</file>